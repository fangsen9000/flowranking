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Flow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Flow-Regularized Neural Collaborative Filtering
for Movie Recommendation</a:t>
            </a:r>
          </a:p>
          <a:p>
            <a:r>
              <a:rPr sz="1700">
                <a:solidFill>
                  <a:srgbClr val="142244"/>
                </a:solidFill>
              </a:rPr>
              <a:t>Sen Fang  |  Rutgers University</a:t>
            </a:r>
          </a:p>
          <a:p>
            <a:r>
              <a:rPr sz="1500">
                <a:solidFill>
                  <a:srgbClr val="5F697D"/>
                </a:solidFill>
              </a:rPr>
              <a:t>sf895@scarletmail.rutgers.edu</a:t>
            </a:r>
          </a:p>
          <a:p>
            <a:r>
              <a:rPr sz="1500">
                <a:solidFill>
                  <a:srgbClr val="C62828"/>
                </a:solidFill>
              </a:rPr>
              <a:t>Project page: fangsen9000.github.io/FlowRanking</a:t>
            </a:r>
          </a:p>
        </p:txBody>
      </p:sp>
      <p:pic>
        <p:nvPicPr>
          <p:cNvPr id="6" name="Picture 5" descr="rating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754880" cy="2282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534924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Four-model benchmark with rating and Top-N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293B"/>
                </a:solidFill>
              </a:rPr>
              <a:t>Task: explicit-feedback movie recommendation on MovieLens small.</a:t>
            </a:r>
          </a:p>
          <a:p>
            <a:pPr/>
            <a:r>
              <a:rPr sz="1900">
                <a:solidFill>
                  <a:srgbClr val="1E293B"/>
                </a:solidFill>
              </a:rPr>
              <a:t>Compare classical baselines and neural recommenders under the same split and evaluation protocol.</a:t>
            </a:r>
          </a:p>
          <a:p>
            <a:pPr/>
            <a:r>
              <a:rPr sz="1900">
                <a:solidFill>
                  <a:srgbClr val="1E293B"/>
                </a:solidFill>
              </a:rPr>
              <a:t>Main question: does flow regularization improve a standard NeuMF recommender?</a:t>
            </a:r>
          </a:p>
          <a:p>
            <a:pPr/>
            <a:r>
              <a:rPr sz="1900">
                <a:solidFill>
                  <a:srgbClr val="1E293B"/>
                </a:solidFill>
              </a:rPr>
              <a:t>Final benchmark includes ItemCF, BiasedMF, ClassicNeuMF, and FlowNeuMF.</a:t>
            </a:r>
          </a:p>
        </p:txBody>
      </p:sp>
      <p:pic>
        <p:nvPicPr>
          <p:cNvPr id="6" name="Picture 5" descr="training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4846320" cy="2818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Method and Training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FlowNeuMF keeps the NeuMF backbone but adds conditional flow-matching regularization and endpoint consistency.</a:t>
            </a:r>
          </a:p>
          <a:p>
            <a:r>
              <a:rPr sz="1800">
                <a:solidFill>
                  <a:srgbClr val="1E293B"/>
                </a:solidFill>
              </a:rPr>
              <a:t>ClassicNeuMF uses the same embedding size, optimizer, and MLP budget without flow terms.</a:t>
            </a:r>
          </a:p>
          <a:p>
            <a:r>
              <a:rPr sz="1800">
                <a:solidFill>
                  <a:srgbClr val="1E293B"/>
                </a:solidFill>
              </a:rPr>
              <a:t>The key fix was not deeper flow capacity. The real improvement came from adding pairwise ranking loss with negative sampling.</a:t>
            </a:r>
          </a:p>
          <a:p>
            <a:r>
              <a:rPr sz="1800">
                <a:solidFill>
                  <a:srgbClr val="1E293B"/>
                </a:solidFill>
              </a:rPr>
              <a:t>Long training overfit the ranking objective. Early stopping at 5 epochs worked much better than 60 epochs.</a:t>
            </a:r>
          </a:p>
        </p:txBody>
      </p:sp>
      <p:pic>
        <p:nvPicPr>
          <p:cNvPr id="6" name="Picture 5" descr="topn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663440" cy="3357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Best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62828"/>
                </a:solidFill>
              </a:rPr>
              <a:t>Best reproducible setting: seed=84, epochs=5, ranking_weight=0.4, flow_weight=0.12, consistency_weight=0.4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293B"/>
                </a:solidFill>
              </a:rPr>
              <a:t>ItemCF</a:t>
            </a:r>
          </a:p>
          <a:p>
            <a:r>
              <a:rPr sz="1500">
                <a:solidFill>
                  <a:srgbClr val="5F697D"/>
                </a:solidFill>
              </a:rPr>
              <a:t>MAE 0.6578</a:t>
            </a:r>
          </a:p>
          <a:p>
            <a:r>
              <a:rPr sz="1500">
                <a:solidFill>
                  <a:srgbClr val="5F697D"/>
                </a:solidFill>
              </a:rPr>
              <a:t>RMSE 0.8678</a:t>
            </a:r>
          </a:p>
          <a:p>
            <a:r>
              <a:rPr sz="1500">
                <a:solidFill>
                  <a:srgbClr val="5F697D"/>
                </a:solidFill>
              </a:rPr>
              <a:t>Best rating predictor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55648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293B"/>
                </a:solidFill>
              </a:rPr>
              <a:t>BiasedMF</a:t>
            </a:r>
          </a:p>
          <a:p>
            <a:r>
              <a:rPr sz="1500">
                <a:solidFill>
                  <a:srgbClr val="5F697D"/>
                </a:solidFill>
              </a:rPr>
              <a:t>P@10 0.1408</a:t>
            </a:r>
          </a:p>
          <a:p>
            <a:r>
              <a:rPr sz="1500">
                <a:solidFill>
                  <a:srgbClr val="5F697D"/>
                </a:solidFill>
              </a:rPr>
              <a:t>NDCG@10 0.1614</a:t>
            </a:r>
          </a:p>
          <a:p>
            <a:r>
              <a:rPr sz="1500">
                <a:solidFill>
                  <a:srgbClr val="5F697D"/>
                </a:solidFill>
              </a:rPr>
              <a:t>Best overall Top-N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55648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293B"/>
                </a:solidFill>
              </a:rPr>
              <a:t>ClassicNeuMF</a:t>
            </a:r>
          </a:p>
          <a:p>
            <a:r>
              <a:rPr sz="1500">
                <a:solidFill>
                  <a:srgbClr val="5F697D"/>
                </a:solidFill>
              </a:rPr>
              <a:t>P@10 0.1084</a:t>
            </a:r>
          </a:p>
          <a:p>
            <a:r>
              <a:rPr sz="1500">
                <a:solidFill>
                  <a:srgbClr val="5F697D"/>
                </a:solidFill>
              </a:rPr>
              <a:t>NDCG@10 0.1204</a:t>
            </a:r>
          </a:p>
          <a:p>
            <a:r>
              <a:rPr sz="1500">
                <a:solidFill>
                  <a:srgbClr val="5F697D"/>
                </a:solidFill>
              </a:rPr>
              <a:t>Strong neural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468880" cy="210312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755648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293B"/>
                </a:solidFill>
              </a:rPr>
              <a:t>FlowNeuMF</a:t>
            </a:r>
          </a:p>
          <a:p>
            <a:r>
              <a:rPr sz="1500">
                <a:solidFill>
                  <a:srgbClr val="5F697D"/>
                </a:solidFill>
              </a:rPr>
              <a:t>P@10 0.1164</a:t>
            </a:r>
          </a:p>
          <a:p>
            <a:r>
              <a:rPr sz="1500">
                <a:solidFill>
                  <a:srgbClr val="5F697D"/>
                </a:solidFill>
              </a:rPr>
              <a:t>NDCG@10 0.1334</a:t>
            </a:r>
          </a:p>
          <a:p>
            <a:r>
              <a:rPr sz="1500">
                <a:solidFill>
                  <a:srgbClr val="5F697D"/>
                </a:solidFill>
              </a:rPr>
              <a:t>Best neural ranking model</a:t>
            </a:r>
          </a:p>
        </p:txBody>
      </p:sp>
      <p:pic>
        <p:nvPicPr>
          <p:cNvPr id="14" name="Picture 13" descr="precision_a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291840" cy="2116183"/>
          </a:xfrm>
          <a:prstGeom prst="rect">
            <a:avLst/>
          </a:prstGeom>
        </p:spPr>
      </p:pic>
      <p:pic>
        <p:nvPicPr>
          <p:cNvPr id="15" name="Picture 14" descr="ndcg_a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14800"/>
            <a:ext cx="3291840" cy="2116183"/>
          </a:xfrm>
          <a:prstGeom prst="rect">
            <a:avLst/>
          </a:prstGeom>
        </p:spPr>
      </p:pic>
      <p:pic>
        <p:nvPicPr>
          <p:cNvPr id="16" name="Picture 15" descr="rm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114800"/>
            <a:ext cx="3291840" cy="2116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6692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293B"/>
                </a:solidFill>
              </a:rPr>
              <a:t>Flow regularization alone was not enough.</a:t>
            </a:r>
          </a:p>
          <a:p>
            <a:r>
              <a:rPr sz="1800">
                <a:solidFill>
                  <a:srgbClr val="1E293B"/>
                </a:solidFill>
              </a:rPr>
              <a:t>Ranking-aware training was the real turning point.</a:t>
            </a:r>
          </a:p>
          <a:p>
            <a:r>
              <a:rPr sz="1800">
                <a:solidFill>
                  <a:srgbClr val="1E293B"/>
                </a:solidFill>
              </a:rPr>
              <a:t>With the revised objective, FlowNeuMF beat ClassicNeuMF on all Top-N metrics.</a:t>
            </a:r>
          </a:p>
          <a:p>
            <a:r>
              <a:rPr sz="1800">
                <a:solidFill>
                  <a:srgbClr val="1E293B"/>
                </a:solidFill>
              </a:rPr>
              <a:t>BiasedMF still remained the strongest classical baseline, so the final claim is competitive improvement rather than overall dominance.</a:t>
            </a:r>
          </a:p>
        </p:txBody>
      </p:sp>
      <p:pic>
        <p:nvPicPr>
          <p:cNvPr id="6" name="Picture 5" descr="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05840"/>
            <a:ext cx="4572000" cy="2939143"/>
          </a:xfrm>
          <a:prstGeom prst="rect">
            <a:avLst/>
          </a:prstGeom>
        </p:spPr>
      </p:pic>
      <p:pic>
        <p:nvPicPr>
          <p:cNvPr id="7" name="Picture 6" descr="f_measure_a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57600"/>
            <a:ext cx="4572000" cy="2939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D"/>
                </a:solidFill>
              </a:rPr>
              <a:t>Flow Ranking | CS550 Final Project | Sen 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293B"/>
                </a:solidFill>
              </a:rPr>
              <a:t>Paper PDF: flow_ranking_paper.pdf</a:t>
            </a:r>
          </a:p>
          <a:p>
            <a:r>
              <a:rPr sz="1900">
                <a:solidFill>
                  <a:srgbClr val="1E293B"/>
                </a:solidFill>
              </a:rPr>
              <a:t>Paper source bundle: flow_ranking_paper_source.zip</a:t>
            </a:r>
          </a:p>
          <a:p>
            <a:r>
              <a:rPr sz="1900">
                <a:solidFill>
                  <a:srgbClr val="1E293B"/>
                </a:solidFill>
              </a:rPr>
              <a:t>Code bundle: flow_ranking_code_bundle.zip</a:t>
            </a:r>
          </a:p>
          <a:p>
            <a:r>
              <a:rPr sz="1900">
                <a:solidFill>
                  <a:srgbClr val="1E293B"/>
                </a:solidFill>
              </a:rPr>
              <a:t>Training script: train_movie_sys.py</a:t>
            </a:r>
          </a:p>
          <a:p>
            <a:r>
              <a:rPr sz="1900">
                <a:solidFill>
                  <a:srgbClr val="1E293B"/>
                </a:solidFill>
              </a:rPr>
              <a:t>Project page: this FlowRanking website</a:t>
            </a:r>
          </a:p>
          <a:p>
            <a:r>
              <a:rPr sz="1900">
                <a:solidFill>
                  <a:srgbClr val="1E293B"/>
                </a:solidFill>
              </a:rPr>
              <a:t>Slides: flow_ranking_slides.pptx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C62828"/>
                </a:solidFill>
              </a:rPr>
              <a:t>All artifacts are copied into the project-page repository so the website can serve them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