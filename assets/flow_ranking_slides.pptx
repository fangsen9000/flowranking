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fangsen9000.github.io/FlowRanking/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8521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BB2E37"/>
                </a:solidFill>
                <a:latin typeface="Cambria" panose="02040503050406030204"/>
              </a:rPr>
              <a:t>Flow Ranking</a:t>
            </a:r>
            <a:endParaRPr sz="3000" b="1">
              <a:solidFill>
                <a:srgbClr val="BB2E37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78865"/>
            <a:ext cx="8030845" cy="829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244"/>
                </a:solidFill>
                <a:latin typeface="Cambria" panose="02040503050406030204"/>
              </a:rPr>
              <a:t>Flow-Regularized Neural Collaborative Filtering</a:t>
            </a:r>
            <a:r>
              <a:rPr lang="en-US" sz="2400" b="1">
                <a:solidFill>
                  <a:srgbClr val="112244"/>
                </a:solidFill>
                <a:latin typeface="Cambria" panose="02040503050406030204"/>
              </a:rPr>
              <a:t> </a:t>
            </a:r>
            <a:r>
              <a:rPr sz="2400" b="1">
                <a:solidFill>
                  <a:srgbClr val="112244"/>
                </a:solidFill>
                <a:latin typeface="Cambria" panose="02040503050406030204"/>
              </a:rPr>
              <a:t>for Movie</a:t>
            </a:r>
            <a:r>
              <a:rPr lang="en-US" sz="2400" b="1">
                <a:solidFill>
                  <a:srgbClr val="112244"/>
                </a:solidFill>
                <a:latin typeface="Cambria" panose="02040503050406030204"/>
              </a:rPr>
              <a:t> </a:t>
            </a:r>
            <a:r>
              <a:rPr sz="2400" b="1">
                <a:solidFill>
                  <a:srgbClr val="112244"/>
                </a:solidFill>
                <a:latin typeface="Cambria" panose="02040503050406030204"/>
              </a:rPr>
              <a:t>Recommendation</a:t>
            </a:r>
            <a:endParaRPr sz="24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2271395"/>
            <a:ext cx="4023360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23272D"/>
                </a:solidFill>
                <a:latin typeface="Aptos"/>
              </a:rPr>
              <a:t>Sen Fang
Rutgers University CS550 Final Project
sf895@scarletmail.rutgers.edu</a:t>
            </a:r>
            <a:endParaRPr sz="1700" b="0">
              <a:solidFill>
                <a:srgbClr val="23272D"/>
              </a:solidFill>
              <a:latin typeface="Aptos"/>
            </a:endParaRPr>
          </a:p>
        </p:txBody>
      </p:sp>
      <p:pic>
        <p:nvPicPr>
          <p:cNvPr id="6" name="Picture 5" descr="topn_metrics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713" y="1752727"/>
            <a:ext cx="5394960" cy="3884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5897880"/>
            <a:ext cx="5303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26975"/>
                </a:solidFill>
                <a:latin typeface="Aptos"/>
              </a:rPr>
              <a:t>Final Top-10 comparison after fixing the evaluation mismatch.</a:t>
            </a:r>
            <a:endParaRPr sz="1100" b="0">
              <a:solidFill>
                <a:srgbClr val="62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5915660"/>
            <a:ext cx="5120640" cy="28829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00" b="0">
                <a:solidFill>
                  <a:srgbClr val="626975"/>
                </a:solidFill>
                <a:latin typeface="Aptos"/>
              </a:rPr>
              <a:t>Project page: </a:t>
            </a:r>
            <a:r>
              <a:rPr lang="en-US" sz="1100" b="0">
                <a:solidFill>
                  <a:srgbClr val="626975"/>
                </a:solidFill>
                <a:latin typeface="Aptos"/>
                <a:hlinkClick r:id="rId2" tooltip="" action="ppaction://hlinkfile"/>
              </a:rPr>
              <a:t>https://fangsen9000.github.io/FlowRanking/</a:t>
            </a:r>
            <a:endParaRPr lang="en-US" sz="1100" b="0">
              <a:solidFill>
                <a:srgbClr val="62697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 1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132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 panose="02040503050406030204"/>
              </a:rPr>
              <a:t>Problem Setup</a:t>
            </a:r>
            <a:endParaRPr sz="26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9560" y="91440"/>
            <a:ext cx="3840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Why this project matters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4308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3272D"/>
                </a:solidFill>
                <a:latin typeface="Aptos"/>
              </a:rPr>
              <a:t>Goal:</a:t>
            </a:r>
            <a:r>
              <a:rPr sz="2000">
                <a:solidFill>
                  <a:srgbClr val="23272D"/>
                </a:solidFill>
                <a:latin typeface="Aptos"/>
              </a:rPr>
              <a:t> test whether flow-style regularization improves a neural recommender under a fair comparison.</a:t>
            </a:r>
            <a:endParaRPr sz="20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endParaRPr sz="20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272D"/>
                </a:solidFill>
                <a:latin typeface="Aptos"/>
              </a:rPr>
              <a:t>Dataset:</a:t>
            </a:r>
            <a:r>
              <a:rPr sz="2000">
                <a:solidFill>
                  <a:srgbClr val="23272D"/>
                </a:solidFill>
                <a:latin typeface="Aptos"/>
              </a:rPr>
              <a:t> MovieLens small with explicit ratings and per-user 80/20 holdout.</a:t>
            </a:r>
            <a:endParaRPr sz="20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endParaRPr sz="20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272D"/>
                </a:solidFill>
                <a:latin typeface="Aptos"/>
              </a:rPr>
              <a:t>Tasks:</a:t>
            </a:r>
            <a:r>
              <a:rPr sz="2000">
                <a:solidFill>
                  <a:srgbClr val="23272D"/>
                </a:solidFill>
                <a:latin typeface="Aptos"/>
              </a:rPr>
              <a:t> rating prediction and Top-10 recommendation.</a:t>
            </a:r>
            <a:endParaRPr sz="20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endParaRPr sz="20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272D"/>
                </a:solidFill>
                <a:latin typeface="Aptos"/>
              </a:rPr>
              <a:t>Metrics:</a:t>
            </a:r>
            <a:r>
              <a:rPr sz="2000">
                <a:solidFill>
                  <a:srgbClr val="23272D"/>
                </a:solidFill>
                <a:latin typeface="Aptos"/>
              </a:rPr>
              <a:t> MAE, RMSE, Precision@10, Recall@10, F-measure@10, and NDCG@10.</a:t>
            </a:r>
            <a:endParaRPr sz="20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537960" y="960120"/>
            <a:ext cx="2286000" cy="132588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665976" y="1033272"/>
            <a:ext cx="20299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Ratings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6647688" y="1371600"/>
            <a:ext cx="2066544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100,836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9006840" y="960120"/>
            <a:ext cx="2286000" cy="132588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9134856" y="1033272"/>
            <a:ext cx="20299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Users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9116568" y="1371600"/>
            <a:ext cx="2066544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610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6537960" y="2514600"/>
            <a:ext cx="2286000" cy="132588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665976" y="2587752"/>
            <a:ext cx="20299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Movies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6647688" y="2926080"/>
            <a:ext cx="2066544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9,724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9006840" y="2514600"/>
            <a:ext cx="2286000" cy="132588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134856" y="2587752"/>
            <a:ext cx="20299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Avg Rating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116568" y="2926080"/>
            <a:ext cx="2066544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3.50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pic>
        <p:nvPicPr>
          <p:cNvPr id="18" name="Picture 17" descr="rating_metrics_b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040" y="3989070"/>
            <a:ext cx="5257800" cy="2523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 2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132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 panose="02040503050406030204"/>
              </a:rPr>
              <a:t>Compared Methods</a:t>
            </a:r>
            <a:endParaRPr sz="26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9560" y="91440"/>
            <a:ext cx="3840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From classical CF to the proposed model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2743200" cy="182880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987552"/>
            <a:ext cx="24871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ItemCF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2523744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Item-item cosine similarity.</a:t>
            </a:r>
            <a:endParaRPr sz="14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Strong classical baseline for explicit ratings.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37560" y="914400"/>
            <a:ext cx="2743200" cy="182880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5576" y="987552"/>
            <a:ext cx="24871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BiasedMF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47288" y="1325880"/>
            <a:ext cx="2523744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Matrix factorization with user/item bias terms.</a:t>
            </a:r>
            <a:endParaRPr sz="14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Strong latent-factor baseline.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914400"/>
            <a:ext cx="2743200" cy="1828800"/>
          </a:xfrm>
          <a:prstGeom prst="roundRect">
            <a:avLst/>
          </a:prstGeom>
          <a:solidFill>
            <a:srgbClr val="E5EDF8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987552"/>
            <a:ext cx="248716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ClassicNeuMF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7648" y="1325880"/>
            <a:ext cx="2523744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GMF branch + MLP tower.</a:t>
            </a:r>
            <a:endParaRPr sz="14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Neural baseline without flow regularization.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98280" y="914400"/>
            <a:ext cx="2606040" cy="1828800"/>
          </a:xfrm>
          <a:prstGeom prst="roundRect">
            <a:avLst/>
          </a:prstGeom>
          <a:solidFill>
            <a:srgbClr val="F6E0DE"/>
          </a:solidFill>
          <a:ln w="12700">
            <a:solidFill>
              <a:srgbClr val="11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987552"/>
            <a:ext cx="2350008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112244"/>
                </a:solidFill>
                <a:latin typeface="Cambria" panose="02040503050406030204"/>
              </a:rPr>
              <a:t>FlowNeuMF</a:t>
            </a:r>
            <a:endParaRPr sz="1900" b="1">
              <a:solidFill>
                <a:srgbClr val="112244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08008" y="1325880"/>
            <a:ext cx="2386584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ClassicNeuMF backbone.</a:t>
            </a:r>
            <a:endParaRPr sz="14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3272D"/>
                </a:solidFill>
                <a:latin typeface="Aptos"/>
              </a:rPr>
              <a:t>Adds flow + consistency losses.</a:t>
            </a:r>
            <a:endParaRPr sz="14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10332720" cy="1795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Neural models use the same embedding size, optimizer family, and train/test split.</a:t>
            </a: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FlowNeuMF changes the regularization strategy rather than redefining the recommendation task.</a:t>
            </a: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This makes the comparison against ClassicNeuMF the key test of the proposed idea.</a:t>
            </a:r>
            <a:endParaRPr sz="18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 3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132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 panose="02040503050406030204"/>
              </a:rPr>
              <a:t>Critical Debugging: Evaluation Repair</a:t>
            </a:r>
            <a:endParaRPr sz="26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9560" y="91440"/>
            <a:ext cx="3840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Why the first ranking plots looked wrong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66647"/>
            <a:ext cx="5577840" cy="412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3272D"/>
                </a:solidFill>
                <a:latin typeface="Aptos"/>
              </a:rPr>
              <a:t>Earlier Top-10 evaluation treated every held-out movie as relevant, including low-rated ones.</a:t>
            </a:r>
            <a:endParaRPr sz="19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endParaRPr sz="19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3272D"/>
                </a:solidFill>
                <a:latin typeface="Aptos"/>
              </a:rPr>
              <a:t>That was inconsistent with the neural ranking loss, which used positive interactions only.</a:t>
            </a:r>
            <a:endParaRPr sz="19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endParaRPr sz="19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3272D"/>
                </a:solidFill>
                <a:latin typeface="Aptos"/>
              </a:rPr>
              <a:t>The repaired protocol defines relevance as held-out ratings &gt;= 4.0.</a:t>
            </a:r>
            <a:endParaRPr sz="19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endParaRPr sz="1900">
              <a:solidFill>
                <a:srgbClr val="23272D"/>
              </a:solidFill>
              <a:latin typeface="Aptos"/>
            </a:endParaRP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3272D"/>
                </a:solidFill>
                <a:latin typeface="Aptos"/>
              </a:rPr>
              <a:t>ItemCF ranking was also repaired to use positive-history similarity propagation instead of pure rating-regression scores.</a:t>
            </a:r>
            <a:endParaRPr sz="19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37960" y="1051560"/>
            <a:ext cx="46634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38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209415" cy="175323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23272D"/>
                </a:solidFill>
                <a:latin typeface="Aptos"/>
              </a:rPr>
              <a:t>Effect of the repair:
ItemCF Top-10 metrics moved from </a:t>
            </a:r>
            <a:endParaRPr sz="1800" b="0">
              <a:solidFill>
                <a:srgbClr val="23272D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23272D"/>
                </a:solidFill>
                <a:latin typeface="Aptos"/>
              </a:rPr>
              <a:t>nearly zero to a reasonable competitive </a:t>
            </a:r>
            <a:endParaRPr sz="1800" b="0">
              <a:solidFill>
                <a:srgbClr val="23272D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23272D"/>
                </a:solidFill>
                <a:latin typeface="Aptos"/>
              </a:rPr>
              <a:t>range, which fixed both the table and </a:t>
            </a:r>
            <a:endParaRPr sz="1800" b="0">
              <a:solidFill>
                <a:srgbClr val="23272D"/>
              </a:solidFill>
              <a:latin typeface="Aptos"/>
            </a:endParaRPr>
          </a:p>
          <a:p>
            <a:pPr algn="l"/>
            <a:r>
              <a:rPr sz="1800" b="0">
                <a:solidFill>
                  <a:srgbClr val="23272D"/>
                </a:solidFill>
                <a:latin typeface="Aptos"/>
              </a:rPr>
              <a:t>the bar charts.</a:t>
            </a:r>
            <a:endParaRPr sz="1800" b="0">
              <a:solidFill>
                <a:srgbClr val="23272D"/>
              </a:solidFill>
              <a:latin typeface="Aptos"/>
            </a:endParaRPr>
          </a:p>
        </p:txBody>
      </p:sp>
      <p:pic>
        <p:nvPicPr>
          <p:cNvPr id="8" name="Picture 7" descr="precision_at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3274695"/>
            <a:ext cx="4892040" cy="33545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 4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132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 panose="02040503050406030204"/>
              </a:rPr>
              <a:t>Main Results</a:t>
            </a:r>
            <a:endParaRPr sz="26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9560" y="91440"/>
            <a:ext cx="3840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Repaired full evaluation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868680"/>
          <a:ext cx="113842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RMSE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P@10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R@10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F@10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NDCG@10</a:t>
                      </a:r>
                      <a:endParaRPr sz="1300" b="1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ItemCF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0.6578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0.8678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0.0645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0.0801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0.0596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0.0998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BiasedMF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0.8089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1.0211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0.1137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0.0883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0.0780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0.1439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ClassicNeuMF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0.7204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0.9423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0.0861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0.0656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0.0580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72D"/>
                          </a:solidFill>
                          <a:latin typeface="Aptos"/>
                        </a:rPr>
                        <a:t>0.1036</a:t>
                      </a:r>
                      <a:endParaRPr sz="1200" b="0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FlowNeuMF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0.7205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0.9421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0.0941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0.0663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0.0608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3272D"/>
                          </a:solidFill>
                          <a:latin typeface="Aptos"/>
                        </a:rPr>
                        <a:t>0.1153</a:t>
                      </a:r>
                      <a:endParaRPr sz="1200" b="1">
                        <a:solidFill>
                          <a:srgbClr val="23272D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6E0D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47160"/>
            <a:ext cx="5394960" cy="1666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>
                <a:solidFill>
                  <a:srgbClr val="23272D"/>
                </a:solidFill>
                <a:latin typeface="Aptos"/>
              </a:rPr>
              <a:t>ItemCF is best on MAE/RMSE.</a:t>
            </a:r>
            <a:endParaRPr sz="19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>
                <a:solidFill>
                  <a:srgbClr val="23272D"/>
                </a:solidFill>
                <a:latin typeface="Aptos"/>
              </a:rPr>
              <a:t>BiasedMF remains the strongest overall ranking baseline.</a:t>
            </a:r>
            <a:endParaRPr sz="19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900">
                <a:solidFill>
                  <a:srgbClr val="23272D"/>
                </a:solidFill>
                <a:latin typeface="Aptos"/>
              </a:rPr>
              <a:t>FlowNeuMF beats ClassicNeuMF on every Top-10 metric.</a:t>
            </a:r>
            <a:endParaRPr sz="1900">
              <a:solidFill>
                <a:srgbClr val="23272D"/>
              </a:solidFill>
              <a:latin typeface="Aptos"/>
            </a:endParaRPr>
          </a:p>
        </p:txBody>
      </p:sp>
      <p:pic>
        <p:nvPicPr>
          <p:cNvPr id="7" name="Picture 6" descr="ndcg_at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455" y="3554730"/>
            <a:ext cx="3700145" cy="2537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 5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132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 panose="02040503050406030204"/>
              </a:rPr>
              <a:t>Ranking Quality Analysis</a:t>
            </a:r>
            <a:endParaRPr sz="26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9560" y="91440"/>
            <a:ext cx="3840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Where the proposed method helps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5" name="Picture 4" descr="topn_metrics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14400"/>
            <a:ext cx="6492240" cy="46744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024255"/>
            <a:ext cx="4431030" cy="449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FlowNeuMF is not the best model overall, but it is a stronger neural recommender than ClassicNeuMF.</a:t>
            </a: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The clearest gain is in NDCG@10, which is the strongest ranking-oriented evidence in the report.</a:t>
            </a: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ItemCF still has slightly higher Recall@10, likely because neighborhood ranking is more popularity-driven.</a:t>
            </a: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1800">
              <a:solidFill>
                <a:srgbClr val="23272D"/>
              </a:solidFill>
              <a:latin typeface="Aptos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23272D"/>
                </a:solidFill>
                <a:latin typeface="Aptos"/>
              </a:rPr>
              <a:t>This makes the final claim narrower but more defensible.</a:t>
            </a:r>
            <a:endParaRPr sz="1800">
              <a:solidFill>
                <a:srgbClr val="23272D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 6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132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 panose="02040503050406030204"/>
              </a:rPr>
              <a:t>Conclusion</a:t>
            </a:r>
            <a:endParaRPr sz="2600" b="1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09560" y="91440"/>
            <a:ext cx="38404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Submission-ready takeaway</a:t>
            </a:r>
            <a:endParaRPr sz="11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7055" y="960120"/>
            <a:ext cx="5901055" cy="4616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>
                <a:solidFill>
                  <a:srgbClr val="23272D"/>
                </a:solidFill>
                <a:latin typeface="Aptos"/>
              </a:rPr>
              <a:t>The evaluation pipeline is now consistent, reproducible, and visually interpretable.</a:t>
            </a:r>
            <a:endParaRPr sz="20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>
                <a:solidFill>
                  <a:srgbClr val="23272D"/>
                </a:solidFill>
                <a:latin typeface="Aptos"/>
              </a:rPr>
              <a:t>FlowNeuMF improves over ClassicNeuMF on all reported ranking metrics.</a:t>
            </a:r>
            <a:endParaRPr sz="20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>
                <a:solidFill>
                  <a:srgbClr val="23272D"/>
                </a:solidFill>
                <a:latin typeface="Aptos"/>
              </a:rPr>
              <a:t>The strongest baseline is still BiasedMF, so the contribution is an improved neural baseline rather than a new state of the art.</a:t>
            </a:r>
            <a:endParaRPr sz="20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000">
              <a:solidFill>
                <a:srgbClr val="23272D"/>
              </a:solidFill>
              <a:latin typeface="Aptos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>
                <a:solidFill>
                  <a:srgbClr val="23272D"/>
                </a:solidFill>
                <a:latin typeface="Aptos"/>
              </a:rPr>
              <a:t>Updated deliverables now align with each other: project page, ACM paper PDF, figures, source assets, and PPT.</a:t>
            </a:r>
            <a:endParaRPr sz="2000">
              <a:solidFill>
                <a:srgbClr val="23272D"/>
              </a:solidFill>
              <a:latin typeface="Aptos"/>
            </a:endParaRPr>
          </a:p>
        </p:txBody>
      </p:sp>
      <p:pic>
        <p:nvPicPr>
          <p:cNvPr id="6" name="Picture 5" descr="training_loss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6240" y="1596898"/>
            <a:ext cx="5074920" cy="2951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5669280"/>
            <a:ext cx="4983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626975"/>
                </a:solidFill>
                <a:latin typeface="Aptos"/>
              </a:rPr>
              <a:t>Training curves kept for optimization discussion and ablation context.</a:t>
            </a:r>
            <a:endParaRPr sz="1100" b="0">
              <a:solidFill>
                <a:srgbClr val="62697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3082925" cy="245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26975"/>
                </a:solidFill>
                <a:latin typeface="Aptos"/>
              </a:rPr>
              <a:t>Flow Ranking | Sen Fang | CS550 Final Project |</a:t>
            </a:r>
            <a:r>
              <a:rPr lang="en-US" sz="1000" b="0">
                <a:solidFill>
                  <a:srgbClr val="626975"/>
                </a:solidFill>
                <a:latin typeface="Aptos"/>
              </a:rPr>
              <a:t> 4.21</a:t>
            </a:r>
            <a:r>
              <a:rPr sz="1000" b="0">
                <a:solidFill>
                  <a:srgbClr val="626975"/>
                </a:solidFill>
                <a:latin typeface="Aptos"/>
              </a:rPr>
              <a:t> </a:t>
            </a:r>
            <a:endParaRPr sz="1000" b="0">
              <a:solidFill>
                <a:srgbClr val="626975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2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3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4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5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6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7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8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9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10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11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ags/tag12.xml><?xml version="1.0" encoding="utf-8"?>
<p:tagLst xmlns:p="http://schemas.openxmlformats.org/presentationml/2006/main">
  <p:tag name="KSO_WM_DIAGRAM_VIRTUALLY_FRAME" val="{&quot;height&quot;:226.8,&quot;left&quot;:514.8,&quot;top&quot;:75.6,&quot;width&quot;:374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3507</Words>
  <Application>WPS 演示</Application>
  <PresentationFormat>On-screen Show (4:3)</PresentationFormat>
  <Paragraphs>203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Cambria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提不起劲的fs同学</cp:lastModifiedBy>
  <cp:revision>8</cp:revision>
  <dcterms:created xsi:type="dcterms:W3CDTF">2013-01-27T09:14:00Z</dcterms:created>
  <dcterms:modified xsi:type="dcterms:W3CDTF">2026-04-21T04:55:13Z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426A1F306861419FBB3A2F004171A3D7_12</vt:lpwstr>
  </property>
  <property fmtid="{D5CDD505-2E9C-101B-9397-08002B2CF9AE}" pid="3" name="KSOProductBuildVer">
    <vt:lpwstr>2052-12.1.0.25225</vt:lpwstr>
  </property>
</Properties>
</file>