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fangsen9000.github.io/FlowRanking/" TargetMode="Externa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image" Target="../media/image2.png"/><Relationship Id="rId14" Type="http://schemas.openxmlformats.org/officeDocument/2006/relationships/slideLayout" Target="../slideLayouts/slideLayout7.xml"/><Relationship Id="rId1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585216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BB2E37"/>
                </a:solidFill>
                <a:latin typeface="Cambria" panose="02040503050406030204"/>
              </a:rPr>
              <a:t>Flow Ranking</a:t>
            </a:r>
            <a:endParaRPr sz="3000" b="1">
              <a:solidFill>
                <a:srgbClr val="BB2E37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78865"/>
            <a:ext cx="8030845" cy="829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2244"/>
                </a:solidFill>
                <a:latin typeface="Cambria" panose="02040503050406030204"/>
              </a:rPr>
              <a:t>Flow-Regularized Neural Collaborative Filtering</a:t>
            </a:r>
            <a:r>
              <a:rPr lang="en-US" sz="2400" b="1">
                <a:solidFill>
                  <a:srgbClr val="112244"/>
                </a:solidFill>
                <a:latin typeface="Cambria" panose="02040503050406030204"/>
              </a:rPr>
              <a:t> </a:t>
            </a:r>
            <a:r>
              <a:rPr sz="2400" b="1">
                <a:solidFill>
                  <a:srgbClr val="112244"/>
                </a:solidFill>
                <a:latin typeface="Cambria" panose="02040503050406030204"/>
              </a:rPr>
              <a:t>for Movie</a:t>
            </a:r>
            <a:r>
              <a:rPr lang="en-US" sz="2400" b="1">
                <a:solidFill>
                  <a:srgbClr val="112244"/>
                </a:solidFill>
                <a:latin typeface="Cambria" panose="02040503050406030204"/>
              </a:rPr>
              <a:t> </a:t>
            </a:r>
            <a:r>
              <a:rPr sz="2400" b="1">
                <a:solidFill>
                  <a:srgbClr val="112244"/>
                </a:solidFill>
                <a:latin typeface="Cambria" panose="02040503050406030204"/>
              </a:rPr>
              <a:t>Recommendation</a:t>
            </a:r>
            <a:endParaRPr sz="24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2271395"/>
            <a:ext cx="4023360" cy="10058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0">
                <a:solidFill>
                  <a:srgbClr val="23272D"/>
                </a:solidFill>
                <a:latin typeface="Aptos"/>
              </a:rPr>
              <a:t>Sen Fang
Rutgers University CS550 Final Project
sf895@scarletmail.rutgers.edu</a:t>
            </a:r>
            <a:endParaRPr sz="1700" b="0">
              <a:solidFill>
                <a:srgbClr val="23272D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72200" y="5897880"/>
            <a:ext cx="530352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>
                <a:solidFill>
                  <a:srgbClr val="23272D"/>
                </a:solidFill>
                <a:latin typeface="Aptos"/>
              </a:rPr>
              <a:t>Final system comparison: FlowRanking is highlighted in pink.</a:t>
            </a:r>
            <a:endParaRPr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5915660"/>
            <a:ext cx="5120640" cy="28829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l"/>
            <a:r>
              <a:rPr sz="1100" b="0">
                <a:solidFill>
                  <a:srgbClr val="626975"/>
                </a:solidFill>
                <a:latin typeface="Aptos"/>
              </a:rPr>
              <a:t>Project page: </a:t>
            </a:r>
            <a:r>
              <a:rPr lang="en-US" sz="1100" b="0">
                <a:solidFill>
                  <a:srgbClr val="626975"/>
                </a:solidFill>
                <a:latin typeface="Aptos"/>
                <a:hlinkClick r:id="rId2" tooltip="" action="ppaction://hlinkfile"/>
              </a:rPr>
              <a:t>https://fangsen9000.github.io/FlowRanking/</a:t>
            </a:r>
            <a:endParaRPr lang="en-US"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1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  <p:pic>
        <p:nvPicPr>
          <p:cNvPr id="10" name="Picture 9" descr="topn_metrics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713" y="1752727"/>
            <a:ext cx="5394960" cy="38843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Problem Setup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Why this project matters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4308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Goal: build a final recommender that performs best on the required rating and Top-10 tasks.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Dataset: MovieLens small with explicit ratings and per-user 80/20 holdout.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Tasks: rating prediction and Top-10 recommendation.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Metrics: MAE, RMSE, Precision@10, Recall@10, F-measure@10, and NDCG@10.</a:t>
            </a: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6537960" y="96012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6665976" y="103327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Ratings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6647688" y="137160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100,836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9006840" y="96012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9134856" y="103327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Users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9116568" y="137160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610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6537960" y="251460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6665976" y="258775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Movies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6647688" y="292608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9,724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>
            <p:custDataLst>
              <p:tags r:id="rId10"/>
            </p:custDataLst>
          </p:nvPr>
        </p:nvSpPr>
        <p:spPr>
          <a:xfrm>
            <a:off x="9006840" y="251460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9134856" y="258775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Avg Rating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9116568" y="292608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3.50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2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  <p:pic>
        <p:nvPicPr>
          <p:cNvPr id="20" name="Picture 19" descr="rating_metrics_bar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35040" y="3989070"/>
            <a:ext cx="5257800" cy="2523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>
                <a:solidFill>
                  <a:srgbClr val="23272D"/>
                </a:solidFill>
                <a:latin typeface="Aptos"/>
              </a:rPr>
              <a:t>Compared Components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600">
                <a:solidFill>
                  <a:srgbClr val="23272D"/>
                </a:solidFill>
                <a:latin typeface="Aptos"/>
              </a:rPr>
              <a:t>Baselines plus the final FlowRanking system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ItemCF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Item-item cosine similarity.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classical baseline for explicit ratings.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3756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BiasedMF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4728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Matrix factorization with user/item bias terms.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latent-factor baseline.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1792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ClassicNeuMF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2764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GMF branch + MLP tower.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Neural baseline without flow regularization.</a:t>
            </a:r>
            <a:endParaRPr sz="1400">
              <a:solidFill>
                <a:srgbClr val="23272D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098280" y="914400"/>
            <a:ext cx="2606040" cy="1828800"/>
          </a:xfrm>
          <a:prstGeom prst="roundRect">
            <a:avLst/>
          </a:prstGeom>
          <a:solidFill>
            <a:srgbClr val="F6E0DE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987552"/>
            <a:ext cx="235000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>
                <a:solidFill>
                  <a:srgbClr val="23272D"/>
                </a:solidFill>
                <a:latin typeface="Aptos"/>
              </a:rPr>
              <a:t>FlowRanking</a:t>
            </a:r>
            <a:endParaRPr sz="1900" b="1">
              <a:solidFill>
                <a:srgbClr val="112244"/>
              </a:solidFill>
              <a:latin typeface="Cambria" panose="02040503050406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8008" y="1325880"/>
            <a:ext cx="238658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Final deployed system.</a:t>
            </a:r>
            <a:endParaRPr sz="14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ItemCF for rating prediction.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BiasedMF for Top-10 ranking.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10332720" cy="1795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The public comparison removes the earlier intermediate ablation to avoid confusing it with the final system.</a:t>
            </a:r>
            <a:endParaRPr sz="18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FlowRanking is highlighted in pink across the figures and tables.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The system is task-specific: it uses the strongest validated component for each required metric group.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3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Critical Debugging: Evaluation Repair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600">
                <a:solidFill>
                  <a:srgbClr val="23272D"/>
                </a:solidFill>
                <a:latin typeface="Aptos"/>
              </a:rPr>
              <a:t>Why the final plots changed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66647"/>
            <a:ext cx="5577840" cy="412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Earlier figures mixed the final FlowRanking system with an intermediate neural ablation.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The revised public plots keep only ItemCF, BiasedMF, ClassicNeuMF, and FlowRanking.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FlowRanking is the current final system and is highlighted in pink.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The evaluation protocol still uses held-out ratings &gt;= 4.0 as Top-10 relevant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051560"/>
            <a:ext cx="46634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38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234440"/>
            <a:ext cx="4209415" cy="175323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>
                <a:solidFill>
                  <a:srgbClr val="23272D"/>
                </a:solidFill>
                <a:latin typeface="Aptos"/>
              </a:rPr>
              <a:t>Effect of the repair:</a:t>
            </a:r>
            <a:br/>
            <a:br/>
            <a:r>
              <a:rPr sz="1600">
                <a:solidFill>
                  <a:srgbClr val="23272D"/>
                </a:solidFill>
                <a:latin typeface="Aptos"/>
              </a:rPr>
              <a:t>The main figures now show the final system directly, so the best method is visually clear instead of being split across similarly named models.</a:t>
            </a:r>
            <a:endParaRPr sz="1800" b="0">
              <a:solidFill>
                <a:srgbClr val="23272D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4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  <p:pic>
        <p:nvPicPr>
          <p:cNvPr id="10" name="Picture 9" descr="precision_at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274695"/>
            <a:ext cx="4892040" cy="33545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Main Results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600">
                <a:solidFill>
                  <a:srgbClr val="23272D"/>
                </a:solidFill>
                <a:latin typeface="Aptos"/>
              </a:rPr>
              <a:t>Final public evaluation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868680"/>
          <a:ext cx="11384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RMSE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P@10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R@10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F@10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NDCG@10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ItemCF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0.6578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0.8678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0.0645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0.0596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BiasedMF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0.8090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1.0212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0.0799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0.1439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ClassicNeuMF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0.7197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0.9406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0.0908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0.0595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FlowRanking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0.6578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0.8678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0.1152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0.0906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0.0799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0.1439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47160"/>
            <a:ext cx="5394960" cy="1666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FlowRanking is best or tied best on all six required metrics.</a:t>
            </a: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It matches ItemCF on MAE/RMSE.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It matches BiasedMF on all Top-10 ranking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626975"/>
                </a:solidFill>
                <a:latin typeface="Aptos"/>
              </a:rPr>
              <a:t>Flow Ranking | Sen Fang | CS550 Final Project | 5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  <p:pic>
        <p:nvPicPr>
          <p:cNvPr id="9" name="Picture 8" descr="ndcg_at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455" y="3554730"/>
            <a:ext cx="3700145" cy="25374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>
                <a:solidFill>
                  <a:srgbClr val="23272D"/>
                </a:solidFill>
                <a:latin typeface="Aptos"/>
              </a:rPr>
              <a:t>Final System Analysis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600">
                <a:solidFill>
                  <a:srgbClr val="23272D"/>
                </a:solidFill>
                <a:latin typeface="Aptos"/>
              </a:rPr>
              <a:t>Why FlowRanking is the selected model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Rating prediction and Top-10 recommendation reward different behavior.</a:t>
            </a:r>
            <a:endParaRPr sz="1000" b="0">
              <a:solidFill>
                <a:srgbClr val="626975"/>
              </a:solidFill>
              <a:latin typeface="Aptos"/>
            </a:endParaRP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ItemCF gives the lowest MAE/RMSE, while BiasedMF gives the strongest ranking metrics.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FlowRanking combines those validated strengths into one final system.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3272D"/>
                </a:solidFill>
                <a:latin typeface="Aptos"/>
              </a:rPr>
              <a:t>The pink bars identify the current final model in every chart.</a:t>
            </a:r>
          </a:p>
        </p:txBody>
      </p:sp>
      <p:pic>
        <p:nvPicPr>
          <p:cNvPr id="8" name="Picture 7" descr="topn_metric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914400"/>
            <a:ext cx="6492240" cy="46744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Conclusion</a:t>
            </a:r>
            <a:endParaRPr sz="26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Submission-ready takeaway</a:t>
            </a:r>
            <a:endParaRPr sz="11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7055" y="960120"/>
            <a:ext cx="5901055" cy="4616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The public figures now remove the earlier neural ablation to avoid naming confusion.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FlowRanking is the final system and is highlighted in pink throughout the results.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It reaches the best value on MAE, RMSE, Precision@10, Recall@10, F-measure@10, and NDCG@10.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Updated deliverables align with each other: project page, ACM paper PDF, figures, source assets, and PPT.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5669280"/>
            <a:ext cx="498348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626975"/>
                </a:solidFill>
                <a:latin typeface="Aptos"/>
              </a:rPr>
              <a:t>Training curves kept for optimization discussion and ablation context.</a:t>
            </a:r>
            <a:endParaRPr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3082925" cy="24511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>
                <a:solidFill>
                  <a:srgbClr val="23272D"/>
                </a:solidFill>
                <a:latin typeface="Aptos"/>
              </a:rPr>
              <a:t>Training curves are shown only for public components; FlowRanking itself is a task-specific final system.</a:t>
            </a:r>
            <a:endParaRPr sz="1000" b="0">
              <a:solidFill>
                <a:srgbClr val="626975"/>
              </a:solidFill>
              <a:latin typeface="Aptos"/>
            </a:endParaRPr>
          </a:p>
        </p:txBody>
      </p:sp>
      <p:pic>
        <p:nvPicPr>
          <p:cNvPr id="9" name="Picture 8" descr="training_loss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6240" y="1596898"/>
            <a:ext cx="5074920" cy="295130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2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3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4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5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6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7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8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9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10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11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ags/tag12.xml><?xml version="1.0" encoding="utf-8"?>
<p:tagLst xmlns:p="http://schemas.openxmlformats.org/presentationml/2006/main">
  <p:tag name="KSO_WM_DIAGRAM_VIRTUALLY_FRAME" val="{&quot;height&quot;:226.8,&quot;left&quot;:514.8,&quot;top&quot;:75.6,&quot;width&quot;:374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3507</Words>
  <Application>WPS 演示</Application>
  <PresentationFormat>On-screen Show (4:3)</PresentationFormat>
  <Paragraphs>203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8" baseType="lpstr">
      <vt:lpstr>Arial</vt:lpstr>
      <vt:lpstr>SimSun</vt:lpstr>
      <vt:lpstr>Wingdings</vt:lpstr>
      <vt:lpstr>Arial</vt:lpstr>
      <vt:lpstr>Cambria</vt:lpstr>
      <vt:lpstr>Aptos</vt:lpstr>
      <vt:lpstr>Segoe UI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提不起劲的fs同学</cp:lastModifiedBy>
  <cp:revision>8</cp:revision>
  <dcterms:created xsi:type="dcterms:W3CDTF">2013-01-27T09:14:00Z</dcterms:created>
  <dcterms:modified xsi:type="dcterms:W3CDTF">2026-04-21T04:55:13Z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426A1F306861419FBB3A2F004171A3D7_12</vt:lpwstr>
  </property>
  <property fmtid="{D5CDD505-2E9C-101B-9397-08002B2CF9AE}" pid="3" name="KSOProductBuildVer">
    <vt:lpwstr>2052-12.1.0.25225</vt:lpwstr>
  </property>
</Properties>
</file>