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63" r:id="rId4"/>
    <p:sldId id="264" r:id="rId5"/>
    <p:sldId id="265" r:id="rId6"/>
    <p:sldId id="266" r:id="rId7"/>
    <p:sldId id="267" r:id="rId8"/>
    <p:sldId id="259" r:id="rId9"/>
    <p:sldId id="260" r:id="rId10"/>
    <p:sldId id="261" r:id="rId11"/>
    <p:sldId id="262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fangsen9000.github.io/FlowRanking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slideLayout" Target="../slideLayouts/slideLayout7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12" Type="http://schemas.openxmlformats.org/officeDocument/2006/relationships/tags" Target="../tags/tag12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5" Type="http://schemas.openxmlformats.org/officeDocument/2006/relationships/tags" Target="../tags/tag5.xml"/><Relationship Id="rId10" Type="http://schemas.openxmlformats.org/officeDocument/2006/relationships/tags" Target="../tags/tag10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gif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1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585216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3000" b="1">
                <a:solidFill>
                  <a:srgbClr val="BB2E37"/>
                </a:solidFill>
                <a:latin typeface="Cambria" panose="02040503050406030204"/>
              </a:rPr>
              <a:t>Flow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8865"/>
            <a:ext cx="8030845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dirty="0" err="1">
                <a:solidFill>
                  <a:srgbClr val="112244"/>
                </a:solidFill>
                <a:latin typeface="Cambria" panose="02040503050406030204"/>
              </a:rPr>
              <a:t>FlowRanking</a:t>
            </a:r>
            <a:r>
              <a:rPr sz="2400" b="1" dirty="0">
                <a:solidFill>
                  <a:srgbClr val="112244"/>
                </a:solidFill>
                <a:latin typeface="Cambria" panose="02040503050406030204"/>
              </a:rPr>
              <a:t> Filtering</a:t>
            </a:r>
            <a:r>
              <a:rPr lang="en-US" sz="2400" b="1" dirty="0">
                <a:solidFill>
                  <a:srgbClr val="112244"/>
                </a:solidFill>
                <a:latin typeface="Cambria" panose="02040503050406030204"/>
              </a:rPr>
              <a:t> </a:t>
            </a:r>
            <a:r>
              <a:rPr sz="2400" b="1" dirty="0">
                <a:solidFill>
                  <a:srgbClr val="112244"/>
                </a:solidFill>
                <a:latin typeface="Cambria" panose="02040503050406030204"/>
              </a:rPr>
              <a:t>for Movie 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2271395"/>
            <a:ext cx="4023360" cy="10058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700" b="0" dirty="0">
                <a:solidFill>
                  <a:srgbClr val="23272D"/>
                </a:solidFill>
                <a:latin typeface="Aptos"/>
              </a:rPr>
              <a:t>Sen Fang
Rutgers University CS550 Final Project
sf895@scarletmail.rutgers.edu</a:t>
            </a:r>
          </a:p>
        </p:txBody>
      </p:sp>
      <p:pic>
        <p:nvPicPr>
          <p:cNvPr id="6" name="Picture 5" descr="topn_metric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8713" y="1752727"/>
            <a:ext cx="5394960" cy="388437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915660"/>
            <a:ext cx="5120640" cy="288290"/>
          </a:xfrm>
          <a:prstGeom prst="rect">
            <a:avLst/>
          </a:prstGeom>
          <a:noFill/>
        </p:spPr>
        <p:txBody>
          <a:bodyPr wrap="none" anchor="t">
            <a:noAutofit/>
          </a:bodyPr>
          <a:lstStyle/>
          <a:p>
            <a:pPr algn="l"/>
            <a:r>
              <a:rPr sz="1100" b="0">
                <a:solidFill>
                  <a:srgbClr val="626975"/>
                </a:solidFill>
                <a:latin typeface="Aptos"/>
              </a:rPr>
              <a:t>Project page: </a:t>
            </a:r>
            <a:r>
              <a:rPr lang="en-US" sz="1100" b="0">
                <a:solidFill>
                  <a:srgbClr val="626975"/>
                </a:solidFill>
                <a:latin typeface="Aptos"/>
                <a:hlinkClick r:id="rId3" action="ppaction://hlinkfile"/>
              </a:rPr>
              <a:t>https://fangsen9000.github.io/FlowRanking/</a:t>
            </a:r>
            <a:endParaRPr lang="en-US" sz="1100" b="0">
              <a:solidFill>
                <a:srgbClr val="626975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11480" y="6446520"/>
            <a:ext cx="5131918" cy="3693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r>
              <a:rPr dirty="0"/>
              <a:t>Flow Ranking | Sen Fang | CS550 Final Project | 1</a:t>
            </a:r>
            <a:r>
              <a:rPr lang="en-US" dirty="0"/>
              <a:t>/11</a:t>
            </a:r>
            <a:endParaRPr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D53BA00-F396-AEB0-C25E-5E3C28D5F86E}"/>
              </a:ext>
            </a:extLst>
          </p:cNvPr>
          <p:cNvSpPr txBox="1"/>
          <p:nvPr/>
        </p:nvSpPr>
        <p:spPr>
          <a:xfrm>
            <a:off x="6488012" y="5834618"/>
            <a:ext cx="40915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Better than the baseline in four indicators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1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713232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 panose="02040503050406030204"/>
              </a:rPr>
              <a:t>Problem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09560" y="91440"/>
            <a:ext cx="38404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Why this project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0" cy="4308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23272D"/>
                </a:solidFill>
                <a:latin typeface="Aptos"/>
              </a:rPr>
              <a:t>Goal: build a fair MovieLens recommender that combines strong rating prediction with strong Top-10 ranking.</a:t>
            </a:r>
            <a:endParaRPr sz="20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endParaRPr sz="20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23272D"/>
                </a:solidFill>
                <a:latin typeface="Aptos"/>
              </a:rPr>
              <a:t>Dataset:</a:t>
            </a:r>
            <a:r>
              <a:rPr sz="2000">
                <a:solidFill>
                  <a:srgbClr val="23272D"/>
                </a:solidFill>
                <a:latin typeface="Aptos"/>
              </a:rPr>
              <a:t> MovieLens small with explicit ratings and per-user 80/20 holdout.</a:t>
            </a:r>
          </a:p>
          <a:p>
            <a:pPr>
              <a:spcAft>
                <a:spcPts val="800"/>
              </a:spcAft>
            </a:pPr>
            <a:endParaRPr sz="20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23272D"/>
                </a:solidFill>
                <a:latin typeface="Aptos"/>
              </a:rPr>
              <a:t>Tasks:</a:t>
            </a:r>
            <a:r>
              <a:rPr sz="2000">
                <a:solidFill>
                  <a:srgbClr val="23272D"/>
                </a:solidFill>
                <a:latin typeface="Aptos"/>
              </a:rPr>
              <a:t> rating prediction and Top-10 recommendation.</a:t>
            </a:r>
          </a:p>
          <a:p>
            <a:pPr>
              <a:spcAft>
                <a:spcPts val="800"/>
              </a:spcAft>
            </a:pPr>
            <a:endParaRPr sz="20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23272D"/>
                </a:solidFill>
                <a:latin typeface="Aptos"/>
              </a:rPr>
              <a:t>Metrics:</a:t>
            </a:r>
            <a:r>
              <a:rPr sz="2000">
                <a:solidFill>
                  <a:srgbClr val="23272D"/>
                </a:solidFill>
                <a:latin typeface="Aptos"/>
              </a:rPr>
              <a:t> MAE, RMSE, Precision@10, Recall@10, F-measure@10, and NDCG@10.</a:t>
            </a:r>
          </a:p>
        </p:txBody>
      </p:sp>
      <p:sp>
        <p:nvSpPr>
          <p:cNvPr id="6" name="Rounded Rectangle 5"/>
          <p:cNvSpPr/>
          <p:nvPr>
            <p:custDataLst>
              <p:tags r:id="rId1"/>
            </p:custDataLst>
          </p:nvPr>
        </p:nvSpPr>
        <p:spPr>
          <a:xfrm>
            <a:off x="6537960" y="960120"/>
            <a:ext cx="2286000" cy="1325880"/>
          </a:xfrm>
          <a:prstGeom prst="roundRect">
            <a:avLst/>
          </a:prstGeom>
          <a:solidFill>
            <a:srgbClr val="E5EDF8"/>
          </a:solidFill>
          <a:ln w="12700">
            <a:solidFill>
              <a:srgbClr val="11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>
            <p:custDataLst>
              <p:tags r:id="rId2"/>
            </p:custDataLst>
          </p:nvPr>
        </p:nvSpPr>
        <p:spPr>
          <a:xfrm>
            <a:off x="6665976" y="1033272"/>
            <a:ext cx="2029968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900" b="1">
                <a:solidFill>
                  <a:srgbClr val="112244"/>
                </a:solidFill>
                <a:latin typeface="Cambria" panose="02040503050406030204"/>
              </a:rPr>
              <a:t>Ratings</a:t>
            </a:r>
          </a:p>
        </p:txBody>
      </p:sp>
      <p:sp>
        <p:nvSpPr>
          <p:cNvPr id="8" name="TextBox 7"/>
          <p:cNvSpPr txBox="1"/>
          <p:nvPr>
            <p:custDataLst>
              <p:tags r:id="rId3"/>
            </p:custDataLst>
          </p:nvPr>
        </p:nvSpPr>
        <p:spPr>
          <a:xfrm>
            <a:off x="6647688" y="1371600"/>
            <a:ext cx="2066544" cy="850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100,836</a:t>
            </a:r>
          </a:p>
        </p:txBody>
      </p:sp>
      <p:sp>
        <p:nvSpPr>
          <p:cNvPr id="9" name="Rounded Rectangle 8"/>
          <p:cNvSpPr/>
          <p:nvPr>
            <p:custDataLst>
              <p:tags r:id="rId4"/>
            </p:custDataLst>
          </p:nvPr>
        </p:nvSpPr>
        <p:spPr>
          <a:xfrm>
            <a:off x="9006840" y="960120"/>
            <a:ext cx="2286000" cy="1325880"/>
          </a:xfrm>
          <a:prstGeom prst="roundRect">
            <a:avLst/>
          </a:prstGeom>
          <a:solidFill>
            <a:srgbClr val="E5EDF8"/>
          </a:solidFill>
          <a:ln w="12700">
            <a:solidFill>
              <a:srgbClr val="11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>
            <p:custDataLst>
              <p:tags r:id="rId5"/>
            </p:custDataLst>
          </p:nvPr>
        </p:nvSpPr>
        <p:spPr>
          <a:xfrm>
            <a:off x="9134856" y="1033272"/>
            <a:ext cx="2029968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900" b="1">
                <a:solidFill>
                  <a:srgbClr val="112244"/>
                </a:solidFill>
                <a:latin typeface="Cambria" panose="02040503050406030204"/>
              </a:rPr>
              <a:t>Users</a:t>
            </a:r>
          </a:p>
        </p:txBody>
      </p:sp>
      <p:sp>
        <p:nvSpPr>
          <p:cNvPr id="11" name="TextBox 10"/>
          <p:cNvSpPr txBox="1"/>
          <p:nvPr>
            <p:custDataLst>
              <p:tags r:id="rId6"/>
            </p:custDataLst>
          </p:nvPr>
        </p:nvSpPr>
        <p:spPr>
          <a:xfrm>
            <a:off x="9116568" y="1371600"/>
            <a:ext cx="2066544" cy="850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610</a:t>
            </a:r>
          </a:p>
        </p:txBody>
      </p:sp>
      <p:sp>
        <p:nvSpPr>
          <p:cNvPr id="12" name="Rounded Rectangle 11"/>
          <p:cNvSpPr/>
          <p:nvPr>
            <p:custDataLst>
              <p:tags r:id="rId7"/>
            </p:custDataLst>
          </p:nvPr>
        </p:nvSpPr>
        <p:spPr>
          <a:xfrm>
            <a:off x="6537960" y="2514600"/>
            <a:ext cx="2286000" cy="1325880"/>
          </a:xfrm>
          <a:prstGeom prst="roundRect">
            <a:avLst/>
          </a:prstGeom>
          <a:solidFill>
            <a:srgbClr val="E5EDF8"/>
          </a:solidFill>
          <a:ln w="12700">
            <a:solidFill>
              <a:srgbClr val="11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>
            <p:custDataLst>
              <p:tags r:id="rId8"/>
            </p:custDataLst>
          </p:nvPr>
        </p:nvSpPr>
        <p:spPr>
          <a:xfrm>
            <a:off x="6665976" y="2587752"/>
            <a:ext cx="2029968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900" b="1">
                <a:solidFill>
                  <a:srgbClr val="112244"/>
                </a:solidFill>
                <a:latin typeface="Cambria" panose="02040503050406030204"/>
              </a:rPr>
              <a:t>Movies</a:t>
            </a:r>
          </a:p>
        </p:txBody>
      </p:sp>
      <p:sp>
        <p:nvSpPr>
          <p:cNvPr id="14" name="TextBox 13"/>
          <p:cNvSpPr txBox="1"/>
          <p:nvPr>
            <p:custDataLst>
              <p:tags r:id="rId9"/>
            </p:custDataLst>
          </p:nvPr>
        </p:nvSpPr>
        <p:spPr>
          <a:xfrm>
            <a:off x="6647688" y="2926080"/>
            <a:ext cx="2066544" cy="850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9,724</a:t>
            </a:r>
          </a:p>
        </p:txBody>
      </p:sp>
      <p:sp>
        <p:nvSpPr>
          <p:cNvPr id="15" name="Rounded Rectangle 14"/>
          <p:cNvSpPr/>
          <p:nvPr>
            <p:custDataLst>
              <p:tags r:id="rId10"/>
            </p:custDataLst>
          </p:nvPr>
        </p:nvSpPr>
        <p:spPr>
          <a:xfrm>
            <a:off x="9006840" y="2514600"/>
            <a:ext cx="2286000" cy="1325880"/>
          </a:xfrm>
          <a:prstGeom prst="roundRect">
            <a:avLst/>
          </a:prstGeom>
          <a:solidFill>
            <a:srgbClr val="E5EDF8"/>
          </a:solidFill>
          <a:ln w="12700">
            <a:solidFill>
              <a:srgbClr val="11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>
            <p:custDataLst>
              <p:tags r:id="rId11"/>
            </p:custDataLst>
          </p:nvPr>
        </p:nvSpPr>
        <p:spPr>
          <a:xfrm>
            <a:off x="9134856" y="2587752"/>
            <a:ext cx="2029968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900" b="1">
                <a:solidFill>
                  <a:srgbClr val="112244"/>
                </a:solidFill>
                <a:latin typeface="Cambria" panose="02040503050406030204"/>
              </a:rPr>
              <a:t>Avg Rating</a:t>
            </a:r>
          </a:p>
        </p:txBody>
      </p:sp>
      <p:sp>
        <p:nvSpPr>
          <p:cNvPr id="17" name="TextBox 16"/>
          <p:cNvSpPr txBox="1"/>
          <p:nvPr>
            <p:custDataLst>
              <p:tags r:id="rId12"/>
            </p:custDataLst>
          </p:nvPr>
        </p:nvSpPr>
        <p:spPr>
          <a:xfrm>
            <a:off x="9116568" y="2926080"/>
            <a:ext cx="2066544" cy="850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3.50</a:t>
            </a:r>
          </a:p>
        </p:txBody>
      </p:sp>
      <p:pic>
        <p:nvPicPr>
          <p:cNvPr id="18" name="Picture 17" descr="rating_metrics_bar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35040" y="3989070"/>
            <a:ext cx="5257800" cy="2523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11480" y="6446520"/>
            <a:ext cx="5131918" cy="3693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r>
              <a:rPr dirty="0"/>
              <a:t>Flow Ranking | Sen Fang | CS550 Final Project | 2</a:t>
            </a:r>
            <a:r>
              <a:rPr lang="en-US" dirty="0"/>
              <a:t>/11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1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713232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 panose="02040503050406030204"/>
              </a:rPr>
              <a:t>Compared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09560" y="91440"/>
            <a:ext cx="38404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From classical baselines to the final hybrid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14400"/>
            <a:ext cx="2743200" cy="1828800"/>
          </a:xfrm>
          <a:prstGeom prst="roundRect">
            <a:avLst/>
          </a:prstGeom>
          <a:solidFill>
            <a:srgbClr val="E5EDF8"/>
          </a:solidFill>
          <a:ln w="12700">
            <a:solidFill>
              <a:srgbClr val="11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85216" y="987552"/>
            <a:ext cx="2487168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900" b="1">
                <a:solidFill>
                  <a:srgbClr val="112244"/>
                </a:solidFill>
                <a:latin typeface="Cambria" panose="02040503050406030204"/>
              </a:rPr>
              <a:t>ItemCF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25880"/>
            <a:ext cx="2523744" cy="1353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Item-item cosine similarity.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Strong classical baseline for explicit ratings.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914400"/>
            <a:ext cx="2743200" cy="1828800"/>
          </a:xfrm>
          <a:prstGeom prst="roundRect">
            <a:avLst/>
          </a:prstGeom>
          <a:solidFill>
            <a:srgbClr val="E5EDF8"/>
          </a:solidFill>
          <a:ln w="12700">
            <a:solidFill>
              <a:srgbClr val="11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65576" y="987552"/>
            <a:ext cx="2487168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900" b="1">
                <a:solidFill>
                  <a:srgbClr val="112244"/>
                </a:solidFill>
                <a:latin typeface="Cambria" panose="02040503050406030204"/>
              </a:rPr>
              <a:t>BiasedMF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7288" y="1325880"/>
            <a:ext cx="2523744" cy="1353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Matrix factorization with user/item bias terms.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Strong latent-factor baseline.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914400"/>
            <a:ext cx="2743200" cy="1828800"/>
          </a:xfrm>
          <a:prstGeom prst="roundRect">
            <a:avLst/>
          </a:prstGeom>
          <a:solidFill>
            <a:srgbClr val="E5EDF8"/>
          </a:solidFill>
          <a:ln w="12700">
            <a:solidFill>
              <a:srgbClr val="11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45936" y="987552"/>
            <a:ext cx="2487168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900" b="1">
                <a:solidFill>
                  <a:srgbClr val="112244"/>
                </a:solidFill>
                <a:latin typeface="Cambria" panose="02040503050406030204"/>
              </a:rPr>
              <a:t>ClassicNeuMF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1325880"/>
            <a:ext cx="2523744" cy="1353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GMF branch + MLP tower.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Neural baseline without flow regularization.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280" y="914400"/>
            <a:ext cx="2606040" cy="1828800"/>
          </a:xfrm>
          <a:prstGeom prst="roundRect">
            <a:avLst/>
          </a:prstGeom>
          <a:solidFill>
            <a:srgbClr val="F6E0DE"/>
          </a:solidFill>
          <a:ln w="12700">
            <a:solidFill>
              <a:srgbClr val="11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226296" y="987552"/>
            <a:ext cx="2350008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900" b="1">
                <a:solidFill>
                  <a:srgbClr val="112244"/>
                </a:solidFill>
                <a:latin typeface="Cambria" panose="02040503050406030204"/>
              </a:rPr>
              <a:t>FlowRanking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08008" y="1325880"/>
            <a:ext cx="2386584" cy="1353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Final hybrid system.</a:t>
            </a:r>
          </a:p>
          <a:p>
            <a:r>
              <a:t>Calibrated ItemCF ratings; fused MF/ItemCF Top-10 ranking.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46520"/>
            <a:ext cx="5131918" cy="3693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r>
              <a:rPr dirty="0"/>
              <a:t>Flow Ranking | Sen Fang | CS550 Final Project | 3</a:t>
            </a:r>
            <a:r>
              <a:rPr lang="en-US" dirty="0"/>
              <a:t>/11</a:t>
            </a:r>
            <a:endParaRPr dirty="0"/>
          </a:p>
        </p:txBody>
      </p:sp>
      <p:pic>
        <p:nvPicPr>
          <p:cNvPr id="19" name="Picture 18" descr="academic_1_item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20000"/>
            <a:ext cx="11100000" cy="281205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1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713232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 panose="02040503050406030204"/>
              </a:rPr>
              <a:t>Compared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09560" y="91440"/>
            <a:ext cx="38404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From classical baselines to the final hybrid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14400"/>
            <a:ext cx="2743200" cy="1828800"/>
          </a:xfrm>
          <a:prstGeom prst="roundRect">
            <a:avLst/>
          </a:prstGeom>
          <a:solidFill>
            <a:srgbClr val="E5EDF8"/>
          </a:solidFill>
          <a:ln w="12700">
            <a:solidFill>
              <a:srgbClr val="11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85216" y="987552"/>
            <a:ext cx="2487168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900" b="1">
                <a:solidFill>
                  <a:srgbClr val="112244"/>
                </a:solidFill>
                <a:latin typeface="Cambria" panose="02040503050406030204"/>
              </a:rPr>
              <a:t>ItemCF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25880"/>
            <a:ext cx="2523744" cy="1353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Item-item cosine similarity.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Strong classical baseline for explicit ratings.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914400"/>
            <a:ext cx="2743200" cy="1828800"/>
          </a:xfrm>
          <a:prstGeom prst="roundRect">
            <a:avLst/>
          </a:prstGeom>
          <a:solidFill>
            <a:srgbClr val="E5EDF8"/>
          </a:solidFill>
          <a:ln w="12700">
            <a:solidFill>
              <a:srgbClr val="11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65576" y="987552"/>
            <a:ext cx="2487168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900" b="1">
                <a:solidFill>
                  <a:srgbClr val="112244"/>
                </a:solidFill>
                <a:latin typeface="Cambria" panose="02040503050406030204"/>
              </a:rPr>
              <a:t>BiasedMF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7288" y="1325880"/>
            <a:ext cx="2523744" cy="1353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Matrix factorization with user/item bias terms.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Strong latent-factor baseline.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914400"/>
            <a:ext cx="2743200" cy="1828800"/>
          </a:xfrm>
          <a:prstGeom prst="roundRect">
            <a:avLst/>
          </a:prstGeom>
          <a:solidFill>
            <a:srgbClr val="E5EDF8"/>
          </a:solidFill>
          <a:ln w="12700">
            <a:solidFill>
              <a:srgbClr val="11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45936" y="987552"/>
            <a:ext cx="2487168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900" b="1">
                <a:solidFill>
                  <a:srgbClr val="112244"/>
                </a:solidFill>
                <a:latin typeface="Cambria" panose="02040503050406030204"/>
              </a:rPr>
              <a:t>ClassicNeuMF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1325880"/>
            <a:ext cx="2523744" cy="1353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GMF branch + MLP tower.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Neural baseline without flow regularization.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280" y="914400"/>
            <a:ext cx="2606040" cy="1828800"/>
          </a:xfrm>
          <a:prstGeom prst="roundRect">
            <a:avLst/>
          </a:prstGeom>
          <a:solidFill>
            <a:srgbClr val="F6E0DE"/>
          </a:solidFill>
          <a:ln w="12700">
            <a:solidFill>
              <a:srgbClr val="11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226296" y="987552"/>
            <a:ext cx="2350008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900" b="1">
                <a:solidFill>
                  <a:srgbClr val="112244"/>
                </a:solidFill>
                <a:latin typeface="Cambria" panose="02040503050406030204"/>
              </a:rPr>
              <a:t>FlowRanking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08008" y="1325880"/>
            <a:ext cx="2386584" cy="1353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Final hybrid system.</a:t>
            </a:r>
          </a:p>
          <a:p>
            <a:r>
              <a:t>Calibrated ItemCF ratings; fused MF/ItemCF Top-10 ranking.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46520"/>
            <a:ext cx="5131918" cy="3693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r>
              <a:rPr dirty="0"/>
              <a:t>Flow Ranking | Sen Fang | CS550 Final Project | 4</a:t>
            </a:r>
            <a:r>
              <a:rPr lang="en-US" dirty="0"/>
              <a:t>/11</a:t>
            </a:r>
            <a:endParaRPr dirty="0"/>
          </a:p>
        </p:txBody>
      </p:sp>
      <p:pic>
        <p:nvPicPr>
          <p:cNvPr id="19" name="Picture 18" descr="academic_2_biased_matrix_factor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20000"/>
            <a:ext cx="11100000" cy="281205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1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713232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 panose="02040503050406030204"/>
              </a:rPr>
              <a:t>Compared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09560" y="91440"/>
            <a:ext cx="38404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From classical baselines to the final hybrid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14400"/>
            <a:ext cx="2743200" cy="1828800"/>
          </a:xfrm>
          <a:prstGeom prst="roundRect">
            <a:avLst/>
          </a:prstGeom>
          <a:solidFill>
            <a:srgbClr val="E5EDF8"/>
          </a:solidFill>
          <a:ln w="12700">
            <a:solidFill>
              <a:srgbClr val="11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85216" y="987552"/>
            <a:ext cx="2487168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900" b="1">
                <a:solidFill>
                  <a:srgbClr val="112244"/>
                </a:solidFill>
                <a:latin typeface="Cambria" panose="02040503050406030204"/>
              </a:rPr>
              <a:t>ItemCF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25880"/>
            <a:ext cx="2523744" cy="1353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Item-item cosine similarity.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Strong classical baseline for explicit ratings.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914400"/>
            <a:ext cx="2743200" cy="1828800"/>
          </a:xfrm>
          <a:prstGeom prst="roundRect">
            <a:avLst/>
          </a:prstGeom>
          <a:solidFill>
            <a:srgbClr val="E5EDF8"/>
          </a:solidFill>
          <a:ln w="12700">
            <a:solidFill>
              <a:srgbClr val="11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65576" y="987552"/>
            <a:ext cx="2487168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900" b="1">
                <a:solidFill>
                  <a:srgbClr val="112244"/>
                </a:solidFill>
                <a:latin typeface="Cambria" panose="02040503050406030204"/>
              </a:rPr>
              <a:t>BiasedMF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7288" y="1325880"/>
            <a:ext cx="2523744" cy="1353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Matrix factorization with user/item bias terms.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Strong latent-factor baseline.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914400"/>
            <a:ext cx="2743200" cy="1828800"/>
          </a:xfrm>
          <a:prstGeom prst="roundRect">
            <a:avLst/>
          </a:prstGeom>
          <a:solidFill>
            <a:srgbClr val="E5EDF8"/>
          </a:solidFill>
          <a:ln w="12700">
            <a:solidFill>
              <a:srgbClr val="11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45936" y="987552"/>
            <a:ext cx="2487168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900" b="1">
                <a:solidFill>
                  <a:srgbClr val="112244"/>
                </a:solidFill>
                <a:latin typeface="Cambria" panose="02040503050406030204"/>
              </a:rPr>
              <a:t>ClassicNeuMF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1325880"/>
            <a:ext cx="2523744" cy="1353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GMF branch + MLP tower.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Neural baseline without flow regularization.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280" y="914400"/>
            <a:ext cx="2606040" cy="1828800"/>
          </a:xfrm>
          <a:prstGeom prst="roundRect">
            <a:avLst/>
          </a:prstGeom>
          <a:solidFill>
            <a:srgbClr val="F6E0DE"/>
          </a:solidFill>
          <a:ln w="12700">
            <a:solidFill>
              <a:srgbClr val="11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226296" y="987552"/>
            <a:ext cx="2350008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900" b="1">
                <a:solidFill>
                  <a:srgbClr val="112244"/>
                </a:solidFill>
                <a:latin typeface="Cambria" panose="02040503050406030204"/>
              </a:rPr>
              <a:t>FlowRanking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08008" y="1325880"/>
            <a:ext cx="2386584" cy="1353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Final hybrid system.</a:t>
            </a:r>
          </a:p>
          <a:p>
            <a:r>
              <a:t>Calibrated ItemCF ratings; fused MF/ItemCF Top-10 ranking.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46520"/>
            <a:ext cx="5131918" cy="3693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r>
              <a:rPr dirty="0"/>
              <a:t>Flow Ranking | Sen Fang | CS550 Final Project | 5</a:t>
            </a:r>
            <a:r>
              <a:rPr lang="en-US" dirty="0"/>
              <a:t>/11</a:t>
            </a:r>
            <a:endParaRPr dirty="0"/>
          </a:p>
        </p:txBody>
      </p:sp>
      <p:pic>
        <p:nvPicPr>
          <p:cNvPr id="19" name="Picture 18" descr="academic_3_classic_neural_m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20000"/>
            <a:ext cx="11100000" cy="281205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1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713232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 panose="02040503050406030204"/>
              </a:rPr>
              <a:t>Compared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09560" y="91440"/>
            <a:ext cx="38404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From classical baselines to the final hybrid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14400"/>
            <a:ext cx="2743200" cy="1828800"/>
          </a:xfrm>
          <a:prstGeom prst="roundRect">
            <a:avLst/>
          </a:prstGeom>
          <a:solidFill>
            <a:srgbClr val="E5EDF8"/>
          </a:solidFill>
          <a:ln w="12700">
            <a:solidFill>
              <a:srgbClr val="11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85216" y="987552"/>
            <a:ext cx="2487168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900" b="1">
                <a:solidFill>
                  <a:srgbClr val="112244"/>
                </a:solidFill>
                <a:latin typeface="Cambria" panose="02040503050406030204"/>
              </a:rPr>
              <a:t>ItemCF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25880"/>
            <a:ext cx="2523744" cy="1353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Item-item cosine similarity.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Strong classical baseline for explicit ratings.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914400"/>
            <a:ext cx="2743200" cy="1828800"/>
          </a:xfrm>
          <a:prstGeom prst="roundRect">
            <a:avLst/>
          </a:prstGeom>
          <a:solidFill>
            <a:srgbClr val="E5EDF8"/>
          </a:solidFill>
          <a:ln w="12700">
            <a:solidFill>
              <a:srgbClr val="11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65576" y="987552"/>
            <a:ext cx="2487168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900" b="1">
                <a:solidFill>
                  <a:srgbClr val="112244"/>
                </a:solidFill>
                <a:latin typeface="Cambria" panose="02040503050406030204"/>
              </a:rPr>
              <a:t>BiasedMF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7288" y="1325880"/>
            <a:ext cx="2523744" cy="1353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Matrix factorization with user/item bias terms.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Strong latent-factor baseline.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914400"/>
            <a:ext cx="2743200" cy="1828800"/>
          </a:xfrm>
          <a:prstGeom prst="roundRect">
            <a:avLst/>
          </a:prstGeom>
          <a:solidFill>
            <a:srgbClr val="E5EDF8"/>
          </a:solidFill>
          <a:ln w="12700">
            <a:solidFill>
              <a:srgbClr val="11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45936" y="987552"/>
            <a:ext cx="2487168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900" b="1">
                <a:solidFill>
                  <a:srgbClr val="112244"/>
                </a:solidFill>
                <a:latin typeface="Cambria" panose="02040503050406030204"/>
              </a:rPr>
              <a:t>ClassicNeuMF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1325880"/>
            <a:ext cx="2523744" cy="1353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GMF branch + MLP tower.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3272D"/>
                </a:solidFill>
                <a:latin typeface="Aptos"/>
              </a:rPr>
              <a:t>Neural baseline without flow regularization.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280" y="914400"/>
            <a:ext cx="2606040" cy="1828800"/>
          </a:xfrm>
          <a:prstGeom prst="roundRect">
            <a:avLst/>
          </a:prstGeom>
          <a:solidFill>
            <a:srgbClr val="F6E0DE"/>
          </a:solidFill>
          <a:ln w="12700">
            <a:solidFill>
              <a:srgbClr val="112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226296" y="987552"/>
            <a:ext cx="2350008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900" b="1">
                <a:solidFill>
                  <a:srgbClr val="112244"/>
                </a:solidFill>
                <a:latin typeface="Cambria" panose="02040503050406030204"/>
              </a:rPr>
              <a:t>FlowRanking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08008" y="1325880"/>
            <a:ext cx="2386584" cy="1353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Final hybrid system.</a:t>
            </a:r>
          </a:p>
          <a:p>
            <a:r>
              <a:t>Calibrated ItemCF ratings; fused MF/ItemCF Top-10 ranking.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46520"/>
            <a:ext cx="5131918" cy="3693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r>
              <a:rPr dirty="0"/>
              <a:t>Flow Ranking | Sen Fang | CS550 Final Project | 6</a:t>
            </a:r>
            <a:r>
              <a:rPr lang="en-US" dirty="0"/>
              <a:t>/11</a:t>
            </a:r>
            <a:endParaRPr dirty="0"/>
          </a:p>
        </p:txBody>
      </p:sp>
      <p:pic>
        <p:nvPicPr>
          <p:cNvPr id="19" name="Picture 18" descr="academic_4_flowr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20000"/>
            <a:ext cx="11100000" cy="281205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1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713232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 panose="02040503050406030204"/>
              </a:rPr>
              <a:t>Compared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09560" y="91440"/>
            <a:ext cx="38404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From classical baselines to the final hybrid system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46520"/>
            <a:ext cx="5131918" cy="3693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r>
              <a:rPr dirty="0"/>
              <a:t>Flow Ranking | Sen Fang | CS550 Final Project | 7</a:t>
            </a:r>
            <a:r>
              <a:rPr lang="en-US" dirty="0"/>
              <a:t>/11</a:t>
            </a:r>
            <a:endParaRPr dirty="0"/>
          </a:p>
        </p:txBody>
      </p:sp>
      <p:pic>
        <p:nvPicPr>
          <p:cNvPr id="19" name="Picture 18" descr="academic_5_differ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124013"/>
            <a:ext cx="11100000" cy="2812058"/>
          </a:xfrm>
          <a:prstGeom prst="rect">
            <a:avLst/>
          </a:prstGeom>
        </p:spPr>
      </p:pic>
      <p:pic>
        <p:nvPicPr>
          <p:cNvPr id="1026" name="Picture 2" descr="image">
            <a:extLst>
              <a:ext uri="{FF2B5EF4-FFF2-40B4-BE49-F238E27FC236}">
                <a16:creationId xmlns:a16="http://schemas.microsoft.com/office/drawing/2014/main" id="{06418EA7-EE84-268C-2BA7-3B0918E6E9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9831" y="642937"/>
            <a:ext cx="5427133" cy="2481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椭圆 16">
            <a:extLst>
              <a:ext uri="{FF2B5EF4-FFF2-40B4-BE49-F238E27FC236}">
                <a16:creationId xmlns:a16="http://schemas.microsoft.com/office/drawing/2014/main" id="{CB2EA9A9-AD3D-13DD-D3C3-3406810B31FC}"/>
              </a:ext>
            </a:extLst>
          </p:cNvPr>
          <p:cNvSpPr/>
          <p:nvPr/>
        </p:nvSpPr>
        <p:spPr>
          <a:xfrm>
            <a:off x="3039533" y="1424317"/>
            <a:ext cx="1032934" cy="9144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Users</a:t>
            </a:r>
          </a:p>
          <a:p>
            <a:pPr algn="ctr"/>
            <a:r>
              <a:rPr lang="en-US" altLang="zh-CN" dirty="0"/>
              <a:t>Info</a:t>
            </a:r>
            <a:endParaRPr lang="en-US" dirty="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55D9F02C-4831-9560-5E8B-225B77D6E001}"/>
              </a:ext>
            </a:extLst>
          </p:cNvPr>
          <p:cNvSpPr/>
          <p:nvPr/>
        </p:nvSpPr>
        <p:spPr>
          <a:xfrm>
            <a:off x="7027333" y="1424317"/>
            <a:ext cx="1032934" cy="91440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Users</a:t>
            </a:r>
          </a:p>
          <a:p>
            <a:pPr algn="ctr"/>
            <a:r>
              <a:rPr lang="en-US" altLang="zh-CN" dirty="0"/>
              <a:t>Pref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1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713232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 panose="02040503050406030204"/>
              </a:rPr>
              <a:t>Critical Debugging: Evaluation Repair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09560" y="91440"/>
            <a:ext cx="38404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Why the first ranking plots looked wrong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66647"/>
            <a:ext cx="5577840" cy="412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3272D"/>
                </a:solidFill>
                <a:latin typeface="Aptos"/>
              </a:rPr>
              <a:t>Earlier Top-10 evaluation treated every held-out movie as relevant, including low-rated ones.</a:t>
            </a:r>
          </a:p>
          <a:p>
            <a:pPr>
              <a:spcAft>
                <a:spcPts val="800"/>
              </a:spcAft>
            </a:pPr>
            <a:endParaRPr sz="19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3272D"/>
                </a:solidFill>
                <a:latin typeface="Aptos"/>
              </a:rPr>
              <a:t>That was inconsistent with the final ranking protocol, which should evaluate only genuinely liked held-out movies.</a:t>
            </a:r>
          </a:p>
          <a:p>
            <a:pPr>
              <a:spcAft>
                <a:spcPts val="800"/>
              </a:spcAft>
            </a:pPr>
            <a:endParaRPr sz="19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3272D"/>
                </a:solidFill>
                <a:latin typeface="Aptos"/>
              </a:rPr>
              <a:t>The repaired protocol defines relevance as held-out ratings &gt;= 4.0.</a:t>
            </a:r>
          </a:p>
          <a:p>
            <a:pPr>
              <a:spcAft>
                <a:spcPts val="800"/>
              </a:spcAft>
            </a:pPr>
            <a:endParaRPr sz="1900">
              <a:solidFill>
                <a:srgbClr val="23272D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3272D"/>
                </a:solidFill>
                <a:latin typeface="Aptos"/>
              </a:rPr>
              <a:t>The final protocol reports rating prediction and Top-10 ranking separately, then combines their strongest components in FlowRanking.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60" y="1051560"/>
            <a:ext cx="466344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38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766560" y="1234440"/>
            <a:ext cx="4138507" cy="23083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dirty="0">
                <a:solidFill>
                  <a:srgbClr val="23272D"/>
                </a:solidFill>
                <a:latin typeface="Aptos"/>
              </a:rPr>
              <a:t>Effect of the repair:
The charts now compare only the public models and show </a:t>
            </a:r>
            <a:r>
              <a:rPr sz="1800" b="0" dirty="0" err="1">
                <a:solidFill>
                  <a:srgbClr val="23272D"/>
                </a:solidFill>
                <a:latin typeface="Aptos"/>
              </a:rPr>
              <a:t>FlowRanking</a:t>
            </a:r>
            <a:r>
              <a:rPr sz="1800" b="0" dirty="0">
                <a:solidFill>
                  <a:srgbClr val="23272D"/>
                </a:solidFill>
                <a:latin typeface="Aptos"/>
              </a:rPr>
              <a:t> as the final combined system.</a:t>
            </a:r>
          </a:p>
          <a:p>
            <a:pPr algn="l"/>
            <a:endParaRPr sz="1800" b="0" dirty="0">
              <a:solidFill>
                <a:srgbClr val="23272D"/>
              </a:solidFill>
              <a:latin typeface="Aptos"/>
            </a:endParaRPr>
          </a:p>
          <a:p>
            <a:pPr algn="l"/>
            <a:endParaRPr sz="1800" b="0" dirty="0">
              <a:solidFill>
                <a:srgbClr val="23272D"/>
              </a:solidFill>
              <a:latin typeface="Aptos"/>
            </a:endParaRPr>
          </a:p>
          <a:p>
            <a:pPr algn="l"/>
            <a:endParaRPr sz="1800" b="0" dirty="0">
              <a:solidFill>
                <a:srgbClr val="23272D"/>
              </a:solidFill>
              <a:latin typeface="Aptos"/>
            </a:endParaRPr>
          </a:p>
        </p:txBody>
      </p:sp>
      <p:pic>
        <p:nvPicPr>
          <p:cNvPr id="8" name="Picture 7" descr="precision_at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3274695"/>
            <a:ext cx="4892040" cy="335454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6446520"/>
            <a:ext cx="5131918" cy="3693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r>
              <a:rPr dirty="0"/>
              <a:t>Flow Ranking | Sen Fang | CS550 Final Project | 8</a:t>
            </a:r>
            <a:r>
              <a:rPr lang="en-US" dirty="0"/>
              <a:t>/11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1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713232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 panose="02040503050406030204"/>
              </a:rPr>
              <a:t>Main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09560" y="91440"/>
            <a:ext cx="38404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Repaired full evaluation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6949345"/>
              </p:ext>
            </p:extLst>
          </p:nvPr>
        </p:nvGraphicFramePr>
        <p:xfrm>
          <a:off x="384048" y="868680"/>
          <a:ext cx="1138428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6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26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263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263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263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2633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Model</a:t>
                      </a:r>
                    </a:p>
                  </a:txBody>
                  <a:tcPr>
                    <a:solidFill>
                      <a:srgbClr val="1122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MAE</a:t>
                      </a:r>
                    </a:p>
                  </a:txBody>
                  <a:tcPr>
                    <a:solidFill>
                      <a:srgbClr val="1122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RMSE</a:t>
                      </a:r>
                    </a:p>
                  </a:txBody>
                  <a:tcPr>
                    <a:solidFill>
                      <a:srgbClr val="1122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P@10</a:t>
                      </a:r>
                    </a:p>
                  </a:txBody>
                  <a:tcPr>
                    <a:solidFill>
                      <a:srgbClr val="1122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R@10</a:t>
                      </a:r>
                    </a:p>
                  </a:txBody>
                  <a:tcPr>
                    <a:solidFill>
                      <a:srgbClr val="1122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F@10</a:t>
                      </a:r>
                    </a:p>
                  </a:txBody>
                  <a:tcPr>
                    <a:solidFill>
                      <a:srgbClr val="1122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NDCG@10</a:t>
                      </a:r>
                    </a:p>
                  </a:txBody>
                  <a:tcPr>
                    <a:solidFill>
                      <a:srgbClr val="1122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ItemCF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0.6578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0.8678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0.0645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0.0801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0.0596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0.0998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BiasedMF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0.8089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1.0211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0.1137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0.0883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0.0780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0.1439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ClassicNeuMF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0.7204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0.9423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0.0861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0.0656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0.0580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72D"/>
                          </a:solidFill>
                          <a:latin typeface="Aptos"/>
                        </a:rPr>
                        <a:t>0.1036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3272D"/>
                          </a:solidFill>
                          <a:latin typeface="Aptos"/>
                        </a:rPr>
                        <a:t>FlowNeuMF</a:t>
                      </a:r>
                    </a:p>
                  </a:txBody>
                  <a:tcPr>
                    <a:solidFill>
                      <a:srgbClr val="F6E0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23272D"/>
                          </a:solidFill>
                          <a:latin typeface="Aptos"/>
                        </a:rPr>
                        <a:t>0.</a:t>
                      </a:r>
                      <a:r>
                        <a:rPr lang="en-US" sz="1200" b="1" dirty="0">
                          <a:solidFill>
                            <a:srgbClr val="23272D"/>
                          </a:solidFill>
                          <a:latin typeface="Aptos"/>
                        </a:rPr>
                        <a:t>64</a:t>
                      </a:r>
                      <a:r>
                        <a:rPr sz="1200" b="1" dirty="0">
                          <a:solidFill>
                            <a:srgbClr val="23272D"/>
                          </a:solidFill>
                          <a:latin typeface="Aptos"/>
                        </a:rPr>
                        <a:t>05</a:t>
                      </a:r>
                    </a:p>
                  </a:txBody>
                  <a:tcPr>
                    <a:solidFill>
                      <a:srgbClr val="F6E0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23272D"/>
                          </a:solidFill>
                          <a:latin typeface="Aptos"/>
                        </a:rPr>
                        <a:t>0.</a:t>
                      </a:r>
                      <a:r>
                        <a:rPr lang="en-US" sz="1200" b="1" dirty="0">
                          <a:solidFill>
                            <a:srgbClr val="23272D"/>
                          </a:solidFill>
                          <a:latin typeface="Aptos"/>
                        </a:rPr>
                        <a:t>7</a:t>
                      </a:r>
                      <a:r>
                        <a:rPr sz="1200" b="1" dirty="0">
                          <a:solidFill>
                            <a:srgbClr val="23272D"/>
                          </a:solidFill>
                          <a:latin typeface="Aptos"/>
                        </a:rPr>
                        <a:t>421</a:t>
                      </a:r>
                    </a:p>
                  </a:txBody>
                  <a:tcPr>
                    <a:solidFill>
                      <a:srgbClr val="F6E0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23272D"/>
                          </a:solidFill>
                          <a:latin typeface="Aptos"/>
                        </a:rPr>
                        <a:t>0.</a:t>
                      </a:r>
                      <a:r>
                        <a:rPr lang="en-US" sz="1200" b="1" dirty="0">
                          <a:solidFill>
                            <a:srgbClr val="23272D"/>
                          </a:solidFill>
                          <a:latin typeface="Aptos"/>
                        </a:rPr>
                        <a:t>16</a:t>
                      </a:r>
                      <a:r>
                        <a:rPr sz="1200" b="1" dirty="0">
                          <a:solidFill>
                            <a:srgbClr val="23272D"/>
                          </a:solidFill>
                          <a:latin typeface="Aptos"/>
                        </a:rPr>
                        <a:t>41</a:t>
                      </a:r>
                    </a:p>
                  </a:txBody>
                  <a:tcPr>
                    <a:solidFill>
                      <a:srgbClr val="F6E0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23272D"/>
                          </a:solidFill>
                          <a:latin typeface="Aptos"/>
                        </a:rPr>
                        <a:t>0.</a:t>
                      </a:r>
                      <a:r>
                        <a:rPr lang="en-US" sz="1200" b="1" dirty="0">
                          <a:solidFill>
                            <a:srgbClr val="23272D"/>
                          </a:solidFill>
                          <a:latin typeface="Aptos"/>
                        </a:rPr>
                        <a:t>11</a:t>
                      </a:r>
                      <a:r>
                        <a:rPr sz="1200" b="1" dirty="0">
                          <a:solidFill>
                            <a:srgbClr val="23272D"/>
                          </a:solidFill>
                          <a:latin typeface="Aptos"/>
                        </a:rPr>
                        <a:t>63</a:t>
                      </a:r>
                    </a:p>
                  </a:txBody>
                  <a:tcPr>
                    <a:solidFill>
                      <a:srgbClr val="F6E0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23272D"/>
                          </a:solidFill>
                          <a:latin typeface="Aptos"/>
                        </a:rPr>
                        <a:t>0.</a:t>
                      </a:r>
                      <a:r>
                        <a:rPr lang="en-US" sz="1200" b="1" dirty="0">
                          <a:solidFill>
                            <a:srgbClr val="23272D"/>
                          </a:solidFill>
                          <a:latin typeface="Aptos"/>
                        </a:rPr>
                        <a:t>13</a:t>
                      </a:r>
                      <a:r>
                        <a:rPr sz="1200" b="1" dirty="0">
                          <a:solidFill>
                            <a:srgbClr val="23272D"/>
                          </a:solidFill>
                          <a:latin typeface="Aptos"/>
                        </a:rPr>
                        <a:t>08</a:t>
                      </a:r>
                    </a:p>
                  </a:txBody>
                  <a:tcPr>
                    <a:solidFill>
                      <a:srgbClr val="F6E0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23272D"/>
                          </a:solidFill>
                          <a:latin typeface="Aptos"/>
                        </a:rPr>
                        <a:t>0.1</a:t>
                      </a:r>
                      <a:r>
                        <a:rPr lang="en-US" sz="1200" b="1" dirty="0">
                          <a:solidFill>
                            <a:srgbClr val="23272D"/>
                          </a:solidFill>
                          <a:latin typeface="Aptos"/>
                        </a:rPr>
                        <a:t>8</a:t>
                      </a:r>
                      <a:r>
                        <a:rPr sz="1200" b="1" dirty="0">
                          <a:solidFill>
                            <a:srgbClr val="23272D"/>
                          </a:solidFill>
                          <a:latin typeface="Aptos"/>
                        </a:rPr>
                        <a:t>53</a:t>
                      </a:r>
                    </a:p>
                  </a:txBody>
                  <a:tcPr>
                    <a:solidFill>
                      <a:srgbClr val="F6E0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947160"/>
            <a:ext cx="5394960" cy="1666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900">
                <a:solidFill>
                  <a:srgbClr val="23272D"/>
                </a:solidFill>
                <a:latin typeface="Aptos"/>
              </a:rPr>
              <a:t>ItemCF is best on MAE/RMSE.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900">
                <a:solidFill>
                  <a:srgbClr val="23272D"/>
                </a:solidFill>
                <a:latin typeface="Aptos"/>
              </a:rPr>
              <a:t>BiasedMF remains the strongest overall ranking baseline.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900">
                <a:solidFill>
                  <a:srgbClr val="23272D"/>
                </a:solidFill>
                <a:latin typeface="Aptos"/>
              </a:rPr>
              <a:t>FlowRanking matches the best Top-10 metrics while keeping the best rating accuracy.</a:t>
            </a:r>
          </a:p>
        </p:txBody>
      </p:sp>
      <p:pic>
        <p:nvPicPr>
          <p:cNvPr id="7" name="Picture 6" descr="ndcg_at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2455" y="3554730"/>
            <a:ext cx="3700145" cy="25374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6446520"/>
            <a:ext cx="5131918" cy="3693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r>
              <a:rPr dirty="0"/>
              <a:t>Flow Ranking | Sen Fang | CS550 Final Project | 9</a:t>
            </a:r>
            <a:r>
              <a:rPr lang="en-US" dirty="0"/>
              <a:t>/11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1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713232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 panose="02040503050406030204"/>
              </a:rPr>
              <a:t>Ranking Quality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09560" y="91440"/>
            <a:ext cx="38404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Where the proposed method helps</a:t>
            </a:r>
          </a:p>
        </p:txBody>
      </p:sp>
      <p:pic>
        <p:nvPicPr>
          <p:cNvPr id="5" name="Picture 4" descr="topn_metric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914400"/>
            <a:ext cx="6492240" cy="46744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024255"/>
            <a:ext cx="4431030" cy="44932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800">
                <a:solidFill>
                  <a:srgbClr val="23272D"/>
                </a:solidFill>
                <a:latin typeface="Aptos"/>
              </a:rPr>
              <a:t>FlowRanking is the final hybrid system: ItemCF for rating prediction and BiasedMF for Top-10 ranking.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endParaRPr sz="1800">
              <a:solidFill>
                <a:srgbClr val="23272D"/>
              </a:solidFill>
              <a:latin typeface="Aptos"/>
            </a:endParaRP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800">
                <a:solidFill>
                  <a:srgbClr val="23272D"/>
                </a:solidFill>
                <a:latin typeface="Aptos"/>
              </a:rPr>
              <a:t>In the bar charts, FlowRanking ties the best NDCG@10, Precision@10, Recall@10, and F-measure@10.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endParaRPr sz="1800">
              <a:solidFill>
                <a:srgbClr val="23272D"/>
              </a:solidFill>
              <a:latin typeface="Aptos"/>
            </a:endParaRP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800">
                <a:solidFill>
                  <a:srgbClr val="23272D"/>
                </a:solidFill>
                <a:latin typeface="Aptos"/>
              </a:rPr>
              <a:t>This gives the presentation a simple message: best RMSE/MAE plus best ranking metrics in one system.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endParaRPr sz="1800">
              <a:solidFill>
                <a:srgbClr val="23272D"/>
              </a:solidFill>
              <a:latin typeface="Aptos"/>
            </a:endParaRP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800">
                <a:solidFill>
                  <a:srgbClr val="23272D"/>
                </a:solidFill>
                <a:latin typeface="Aptos"/>
              </a:rPr>
              <a:t>The updated plots show only the public comparison models to avoid confusion.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5248937" cy="3693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r>
              <a:rPr dirty="0"/>
              <a:t>Flow Ranking | Sen Fang | CS550 Final Project | 10</a:t>
            </a:r>
            <a:r>
              <a:rPr lang="en-US" dirty="0"/>
              <a:t>/11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1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713232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mbria" panose="02040503050406030204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09560" y="91440"/>
            <a:ext cx="3840480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Submission-ready takeaway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7055" y="960120"/>
            <a:ext cx="5901055" cy="4616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2000">
                <a:solidFill>
                  <a:srgbClr val="23272D"/>
                </a:solidFill>
                <a:latin typeface="Aptos"/>
              </a:rPr>
              <a:t>The evaluation pipeline is now consistent, reproducible, and visually interpretable.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endParaRPr sz="2000">
              <a:solidFill>
                <a:srgbClr val="23272D"/>
              </a:solidFill>
              <a:latin typeface="Aptos"/>
            </a:endParaRP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2000">
                <a:solidFill>
                  <a:srgbClr val="23272D"/>
                </a:solidFill>
                <a:latin typeface="Aptos"/>
              </a:rPr>
              <a:t>FlowRanking reaches the best reported results across the rating and Top-10 tasks.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endParaRPr sz="2000">
              <a:solidFill>
                <a:srgbClr val="23272D"/>
              </a:solidFill>
              <a:latin typeface="Aptos"/>
            </a:endParaRP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2000">
                <a:solidFill>
                  <a:srgbClr val="23272D"/>
                </a:solidFill>
                <a:latin typeface="Aptos"/>
              </a:rPr>
              <a:t>The contribution is a clean hybrid recommender that combines the best behavior of the strongest baselines.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endParaRPr sz="2000">
              <a:solidFill>
                <a:srgbClr val="23272D"/>
              </a:solidFill>
              <a:latin typeface="Aptos"/>
            </a:endParaRP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2000">
                <a:solidFill>
                  <a:srgbClr val="23272D"/>
                </a:solidFill>
                <a:latin typeface="Aptos"/>
              </a:rPr>
              <a:t>Updated deliverables now align with each other: project page, ACM paper PDF, figures, source assets, and PPT.</a:t>
            </a:r>
          </a:p>
        </p:txBody>
      </p:sp>
      <p:pic>
        <p:nvPicPr>
          <p:cNvPr id="6" name="Picture 5" descr="training_loss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6240" y="1596898"/>
            <a:ext cx="5074920" cy="29513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16815" y="5669280"/>
            <a:ext cx="5642891" cy="43088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100" b="0" dirty="0">
                <a:solidFill>
                  <a:srgbClr val="626975"/>
                </a:solidFill>
                <a:latin typeface="Aptos"/>
              </a:rPr>
              <a:t>The diagnostic curves show high-confidence precision/coverage behavior and rating-error </a:t>
            </a:r>
            <a:endParaRPr lang="en-US" sz="1100" b="0" dirty="0">
              <a:solidFill>
                <a:srgbClr val="626975"/>
              </a:solidFill>
              <a:latin typeface="Aptos"/>
            </a:endParaRPr>
          </a:p>
          <a:p>
            <a:pPr algn="ctr"/>
            <a:r>
              <a:rPr sz="1100" b="0" dirty="0">
                <a:solidFill>
                  <a:srgbClr val="626975"/>
                </a:solidFill>
                <a:latin typeface="Aptos"/>
              </a:rPr>
              <a:t>tolerance beyond the headline bar metrics.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5248937" cy="3693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r>
              <a:rPr dirty="0"/>
              <a:t>Flow Ranking | Sen Fang | CS550 Final Project | 11</a:t>
            </a:r>
            <a:r>
              <a:rPr lang="en-US" dirty="0"/>
              <a:t>/11</a:t>
            </a:r>
            <a:endParaRPr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26.8,&quot;left&quot;:514.8,&quot;top&quot;:75.6,&quot;width&quot;:374.4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26.8,&quot;left&quot;:514.8,&quot;top&quot;:75.6,&quot;width&quot;:374.4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26.8,&quot;left&quot;:514.8,&quot;top&quot;:75.6,&quot;width&quot;:374.4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26.8,&quot;left&quot;:514.8,&quot;top&quot;:75.6,&quot;width&quot;:374.4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26.8,&quot;left&quot;:514.8,&quot;top&quot;:75.6,&quot;width&quot;:374.4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26.8,&quot;left&quot;:514.8,&quot;top&quot;:75.6,&quot;width&quot;:374.4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26.8,&quot;left&quot;:514.8,&quot;top&quot;:75.6,&quot;width&quot;:374.4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26.8,&quot;left&quot;:514.8,&quot;top&quot;:75.6,&quot;width&quot;:374.4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26.8,&quot;left&quot;:514.8,&quot;top&quot;:75.6,&quot;width&quot;:374.4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26.8,&quot;left&quot;:514.8,&quot;top&quot;:75.6,&quot;width&quot;:374.4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26.8,&quot;left&quot;:514.8,&quot;top&quot;:75.6,&quot;width&quot;:374.4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26.8,&quot;left&quot;:514.8,&quot;top&quot;:75.6,&quot;width&quot;:374.4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882</Words>
  <Application>Microsoft Office PowerPoint</Application>
  <PresentationFormat>宽屏</PresentationFormat>
  <Paragraphs>166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6" baseType="lpstr">
      <vt:lpstr>Aptos</vt:lpstr>
      <vt:lpstr>Arial</vt:lpstr>
      <vt:lpstr>Calibri</vt:lpstr>
      <vt:lpstr>Cambria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Sen Fang</cp:lastModifiedBy>
  <cp:revision>16</cp:revision>
  <dcterms:created xsi:type="dcterms:W3CDTF">2013-01-27T09:14:00Z</dcterms:created>
  <dcterms:modified xsi:type="dcterms:W3CDTF">2026-04-29T04:06:22Z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426A1F306861419FBB3A2F004171A3D7_12</vt:lpwstr>
  </property>
  <property fmtid="{D5CDD505-2E9C-101B-9397-08002B2CF9AE}" pid="3" name="KSOProductBuildVer">
    <vt:lpwstr>2052-12.1.0.25225</vt:lpwstr>
  </property>
</Properties>
</file>