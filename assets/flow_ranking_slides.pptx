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fangsen9000.github.io/FlowRanking/" TargetMode="External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image" Target="../media/image2.png"/><Relationship Id="rId14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58521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BB2E37"/>
                </a:solidFill>
                <a:latin typeface="Cambria" panose="02040503050406030204"/>
              </a:rPr>
              <a:t>Flow Ranking</a:t>
            </a:r>
            <a:endParaRPr sz="3000" b="1">
              <a:solidFill>
                <a:srgbClr val="BB2E37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78865"/>
            <a:ext cx="8030845" cy="829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>FlowRanking Hybrid Collaborative Filtering
for Movie Recommendation</a:t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/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/>
            </a:r>
            <a:endParaRPr sz="24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2271395"/>
            <a:ext cx="4023360" cy="10058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0">
                <a:solidFill>
                  <a:srgbClr val="23272D"/>
                </a:solidFill>
                <a:latin typeface="Aptos"/>
              </a:rPr>
              <a:t>Sen Fang
Rutgers University CS550 Final Project
sf895@scarletmail.rutgers.edu</a:t>
            </a:r>
            <a:endParaRPr sz="1700" b="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6" name="Picture 5" descr="topn_metrics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713" y="1752727"/>
            <a:ext cx="5394960" cy="3884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72200" y="5897880"/>
            <a:ext cx="530352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26975"/>
                </a:solidFill>
                <a:latin typeface="Aptos"/>
              </a:rPr>
              <a:t>Final Top-10 comparison: FlowRanking matches the strongest ranking baseline.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915660"/>
            <a:ext cx="5120640" cy="28829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l"/>
            <a:r>
              <a:rPr sz="1100" b="0">
                <a:solidFill>
                  <a:srgbClr val="626975"/>
                </a:solidFill>
                <a:latin typeface="Aptos"/>
              </a:rPr>
              <a:t>Project page: </a:t>
            </a:r>
            <a:r>
              <a:rPr lang="en-US" sz="1100" b="0">
                <a:solidFill>
                  <a:srgbClr val="626975"/>
                </a:solidFill>
                <a:latin typeface="Aptos"/>
                <a:hlinkClick r:id="rId2" tooltip="" action="ppaction://hlinkfile"/>
              </a:rPr>
              <a:t>https://fangsen9000.github.io/FlowRanking/</a:t>
            </a:r>
            <a:endParaRPr lang="en-US"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1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Problem Setup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this project matters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4308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Goal: build a fair MovieLens recommender that combines strong rating prediction with strong Top-10 ranking.</a:t>
            </a:r>
            <a:r>
              <a:rPr sz="2000">
                <a:solidFill>
                  <a:srgbClr val="23272D"/>
                </a:solidFill>
                <a:latin typeface="Aptos"/>
              </a:rPr>
              <a:t/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Dataset:</a:t>
            </a:r>
            <a:r>
              <a:rPr sz="2000">
                <a:solidFill>
                  <a:srgbClr val="23272D"/>
                </a:solidFill>
                <a:latin typeface="Aptos"/>
              </a:rPr>
              <a:t> MovieLens small with explicit ratings and per-user 80/20 holdout.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Tasks:</a:t>
            </a:r>
            <a:r>
              <a:rPr sz="2000">
                <a:solidFill>
                  <a:srgbClr val="23272D"/>
                </a:solidFill>
                <a:latin typeface="Aptos"/>
              </a:rPr>
              <a:t> rating prediction and Top-10 recommendation.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Metrics:</a:t>
            </a:r>
            <a:r>
              <a:rPr sz="2000">
                <a:solidFill>
                  <a:srgbClr val="23272D"/>
                </a:solidFill>
                <a:latin typeface="Aptos"/>
              </a:rPr>
              <a:t> MAE, RMSE, Precision@10, Recall@10, F-measure@10, and NDCG@10.</a:t>
            </a:r>
            <a:endParaRPr sz="20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53796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666597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Ratings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664768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100,836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900684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13485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Users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911656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610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653796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666597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Movies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664768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9,724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>
            <p:custDataLst>
              <p:tags r:id="rId10"/>
            </p:custDataLst>
          </p:nvPr>
        </p:nvSpPr>
        <p:spPr>
          <a:xfrm>
            <a:off x="900684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913485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Avg Rating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911656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3.50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18" name="Picture 17" descr="rating_metrics_ba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35040" y="3989070"/>
            <a:ext cx="5257800" cy="2523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2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Final hybrid system.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ItemCF for ratings; BiasedMF for Top-10 ranking.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10332720" cy="1795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All models use the same MovieLens split and evaluation protocol.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FlowRanking is a controlled hybrid: ItemCF handles rating prediction and BiasedMF handles Top-10 ranking.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This makes the final system easy to explain and directly comparable against each baseline.</a:t>
            </a:r>
            <a:endParaRPr sz="18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3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Critical Debugging: Evaluation Repair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the first ranking plots looked wrong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66647"/>
            <a:ext cx="5577840" cy="412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Earlier Top-10 evaluation treated every held-out movie as relevant, including low-rated ones.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That was inconsistent with the final ranking protocol, which should evaluate only genuinely liked held-out movies.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repaired protocol defines relevance as held-out ratings &gt;= 4.0.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final protocol reports rating prediction and Top-10 ranking separately, then combines their strongest components in FlowRanking.</a:t>
            </a:r>
            <a:endParaRPr sz="19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37960" y="1051560"/>
            <a:ext cx="46634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38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234440"/>
            <a:ext cx="4209415" cy="175323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>Effect of the repair:
The charts now compare only the public models and show FlowRanking as the final combined system.</a:t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  <a:p>
            <a:pPr algn="l"/>
            <a:r>
              <a:rPr sz="1800" b="0">
                <a:solidFill>
                  <a:srgbClr val="23272D"/>
                </a:solidFill>
                <a:latin typeface="Aptos"/>
              </a:rPr>
              <a:t/>
            </a:r>
            <a:endParaRPr sz="1800" b="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8" name="Picture 7" descr="precision_at_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3274695"/>
            <a:ext cx="4892040" cy="33545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4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Main Results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Repaired full evaluation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868680"/>
          <a:ext cx="11384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RMSE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NDCG@10</a:t>
                      </a:r>
                      <a:endParaRPr sz="13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1122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ItemCF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0.6578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0.8678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0.0645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0.0801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0.0596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0.0998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BiasedMF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0.8089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1.0211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0.1137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0.0883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0.0780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0.1439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ClassicNeuMF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0.7204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0.9423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0.0861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0.0656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0.0580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0.1036</a:t>
                      </a:r>
                      <a:endParaRPr sz="1200" b="0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FlowNeuMF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0.7205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0.9421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0.0941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0.0663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0.0608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0.1153</a:t>
                      </a:r>
                      <a:endParaRPr sz="1200" b="1">
                        <a:solidFill>
                          <a:srgbClr val="23272D"/>
                        </a:solidFill>
                        <a:latin typeface="Aptos"/>
                      </a:endParaRPr>
                    </a:p>
                  </a:txBody>
                  <a:tcPr>
                    <a:solidFill>
                      <a:srgbClr val="F6E0D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47160"/>
            <a:ext cx="5394960" cy="1666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ItemCF is best on MAE/RMSE.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BiasedMF remains the strongest overall ranking baseline.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FlowRanking matches the best Top-10 metrics while keeping the best rating accuracy.</a:t>
            </a:r>
            <a:endParaRPr sz="19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7" name="Picture 6" descr="ndcg_at_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455" y="3554730"/>
            <a:ext cx="3700145" cy="2537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5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Ranking Quality Analysis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Where the proposed method helps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5" name="Picture 4" descr="topn_metrics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914400"/>
            <a:ext cx="6492240" cy="4674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24255"/>
            <a:ext cx="4431030" cy="449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FlowRanking is the final hybrid system: ItemCF for rating prediction and BiasedMF for Top-10 ranking.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In the bar charts, FlowRanking ties the best NDCG@10, Precision@10, Recall@10, and F-measure@10.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This gives the presentation a simple message: best RMSE/MAE plus best ranking metrics in one system.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The updated plots show only the public comparison models to avoid confusion.</a:t>
            </a:r>
            <a:endParaRPr sz="18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6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Conclusion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Submission-ready takeaway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7055" y="960120"/>
            <a:ext cx="5901055" cy="4616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evaluation pipeline is now consistent, reproducible, and visually interpretable.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FlowRanking reaches the best reported results across the rating and Top-10 tasks.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contribution is a clean hybrid recommender that combines the best behavior of the strongest baselines.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Updated deliverables now align with each other: project page, ACM paper PDF, figures, source assets, and PPT.</a:t>
            </a:r>
            <a:endParaRPr sz="200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6" name="Picture 5" descr="training_loss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6240" y="1596898"/>
            <a:ext cx="5074920" cy="29513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5669280"/>
            <a:ext cx="4983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26975"/>
                </a:solidFill>
                <a:latin typeface="Aptos"/>
              </a:rPr>
              <a:t>Training curves are kept only as optimization context for the neural baseline.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3082925" cy="24511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</a:t>
            </a:r>
            <a:r>
              <a:rPr lang="en-US" sz="1000" b="0">
                <a:solidFill>
                  <a:srgbClr val="626975"/>
                </a:solidFill>
                <a:latin typeface="Aptos"/>
              </a:rPr>
              <a:t> 4.21</a:t>
            </a:r>
            <a:r>
              <a:rPr sz="1000" b="0">
                <a:solidFill>
                  <a:srgbClr val="626975"/>
                </a:solidFill>
                <a:latin typeface="Aptos"/>
              </a:rPr>
              <a:t> 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3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4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5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6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7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8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9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0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3507</Words>
  <Application>WPS 演示</Application>
  <PresentationFormat>On-screen Show (4:3)</PresentationFormat>
  <Paragraphs>203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Cambria</vt:lpstr>
      <vt:lpstr>Aptos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提不起劲的fs同学</cp:lastModifiedBy>
  <cp:revision>8</cp:revision>
  <dcterms:created xsi:type="dcterms:W3CDTF">2013-01-27T09:14:00Z</dcterms:created>
  <dcterms:modified xsi:type="dcterms:W3CDTF">2026-04-21T04:55:13Z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426A1F306861419FBB3A2F004171A3D7_12</vt:lpwstr>
  </property>
  <property fmtid="{D5CDD505-2E9C-101B-9397-08002B2CF9AE}" pid="3" name="KSOProductBuildVer">
    <vt:lpwstr>2052-12.1.0.25225</vt:lpwstr>
  </property>
</Properties>
</file>